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460ac3c6b46b4" /><Relationship Type="http://schemas.openxmlformats.org/officeDocument/2006/relationships/extended-properties" Target="/docProps/app.xml" Id="R2860a80049bb4119" /><Relationship Type="http://schemas.openxmlformats.org/officeDocument/2006/relationships/officeDocument" Target="/ppt/presentation.xml" Id="R28a5ce3bcfd0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f0b19cbaa644bc"/>
  </p:sldMasterIdLst>
  <p:notesMasterIdLst>
    <p:notesMasterId xmlns:r="http://schemas.openxmlformats.org/officeDocument/2006/relationships" r:id="R94275e5bffb444a4"/>
  </p:notesMasterIdLst>
  <p:sldIdLst>
    <p:sldId xmlns:r="http://schemas.openxmlformats.org/officeDocument/2006/relationships" id="256" r:id="R0243526a34a142b5"/>
    <p:sldId xmlns:r="http://schemas.openxmlformats.org/officeDocument/2006/relationships" id="257" r:id="R138b761d09904b4f"/>
    <p:sldId xmlns:r="http://schemas.openxmlformats.org/officeDocument/2006/relationships" id="258" r:id="Racb6494bc4394e2a"/>
    <p:sldId xmlns:r="http://schemas.openxmlformats.org/officeDocument/2006/relationships" id="259" r:id="Rc6c964e3f1414c0c"/>
    <p:sldId xmlns:r="http://schemas.openxmlformats.org/officeDocument/2006/relationships" id="260" r:id="R3bd75309457749fa"/>
    <p:sldId xmlns:r="http://schemas.openxmlformats.org/officeDocument/2006/relationships" id="261" r:id="R96732f3afa444ad3"/>
    <p:sldId xmlns:r="http://schemas.openxmlformats.org/officeDocument/2006/relationships" id="262" r:id="Rc9ab0288b1ba4a23"/>
    <p:sldId xmlns:r="http://schemas.openxmlformats.org/officeDocument/2006/relationships" id="263" r:id="Rfdcdfbebed144fd6"/>
    <p:sldId xmlns:r="http://schemas.openxmlformats.org/officeDocument/2006/relationships" id="264" r:id="Rb155095c8c834e25"/>
    <p:sldId xmlns:r="http://schemas.openxmlformats.org/officeDocument/2006/relationships" id="265" r:id="Re1000d57d6664134"/>
    <p:sldId xmlns:r="http://schemas.openxmlformats.org/officeDocument/2006/relationships" id="266" r:id="R6666183c8b194dac"/>
    <p:sldId xmlns:r="http://schemas.openxmlformats.org/officeDocument/2006/relationships" id="267" r:id="R55139133d92e40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053f5660e42c7" /><Relationship Type="http://schemas.openxmlformats.org/officeDocument/2006/relationships/slideMaster" Target="/ppt/slideMasters/slideMaster1.xml" Id="Rb4f0b19cbaa644bc" /><Relationship Type="http://schemas.openxmlformats.org/officeDocument/2006/relationships/notesMaster" Target="/ppt/notesMasters/notesMaster1.xml" Id="R94275e5bffb444a4" /><Relationship Type="http://schemas.openxmlformats.org/officeDocument/2006/relationships/presProps" Target="/ppt/presProps.xml" Id="Re9aff80e9cef4823" /><Relationship Type="http://schemas.openxmlformats.org/officeDocument/2006/relationships/tableStyles" Target="/ppt/tableStyles.xml" Id="Rcb878e7c2fdb4d7e" /><Relationship Type="http://schemas.openxmlformats.org/officeDocument/2006/relationships/slide" Target="/ppt/slides/slide1.xml" Id="R0243526a34a142b5" /><Relationship Type="http://schemas.openxmlformats.org/officeDocument/2006/relationships/slide" Target="/ppt/slides/slide2.xml" Id="R138b761d09904b4f" /><Relationship Type="http://schemas.openxmlformats.org/officeDocument/2006/relationships/slide" Target="/ppt/slides/slide3.xml" Id="Racb6494bc4394e2a" /><Relationship Type="http://schemas.openxmlformats.org/officeDocument/2006/relationships/slide" Target="/ppt/slides/slide4.xml" Id="Rc6c964e3f1414c0c" /><Relationship Type="http://schemas.openxmlformats.org/officeDocument/2006/relationships/slide" Target="/ppt/slides/slide5.xml" Id="R3bd75309457749fa" /><Relationship Type="http://schemas.openxmlformats.org/officeDocument/2006/relationships/slide" Target="/ppt/slides/slide6.xml" Id="R96732f3afa444ad3" /><Relationship Type="http://schemas.openxmlformats.org/officeDocument/2006/relationships/slide" Target="/ppt/slides/slide7.xml" Id="Rc9ab0288b1ba4a23" /><Relationship Type="http://schemas.openxmlformats.org/officeDocument/2006/relationships/slide" Target="/ppt/slides/slide8.xml" Id="Rfdcdfbebed144fd6" /><Relationship Type="http://schemas.openxmlformats.org/officeDocument/2006/relationships/slide" Target="/ppt/slides/slide9.xml" Id="Rb155095c8c834e25" /><Relationship Type="http://schemas.openxmlformats.org/officeDocument/2006/relationships/slide" Target="/ppt/slides/slide10.xml" Id="Re1000d57d6664134" /><Relationship Type="http://schemas.openxmlformats.org/officeDocument/2006/relationships/slide" Target="/ppt/slides/slide11.xml" Id="R6666183c8b194dac" /><Relationship Type="http://schemas.openxmlformats.org/officeDocument/2006/relationships/slide" Target="/ppt/slides/slide12.xml" Id="R55139133d92e40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a9dbd4b0e40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287d0f61249a7" /><Relationship Type="http://schemas.openxmlformats.org/officeDocument/2006/relationships/notesMaster" Target="/ppt/notesMasters/notesMaster1.xml" Id="R2b1fdcf64dfa43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5a085c09ee49fc" /><Relationship Type="http://schemas.openxmlformats.org/officeDocument/2006/relationships/notesMaster" Target="/ppt/notesMasters/notesMaster1.xml" Id="Rbad4da9fe6b0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8b60cb76dc4fb8" /><Relationship Type="http://schemas.openxmlformats.org/officeDocument/2006/relationships/notesMaster" Target="/ppt/notesMasters/notesMaster1.xml" Id="R6eb7171e9986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9e2637af3e492b" /><Relationship Type="http://schemas.openxmlformats.org/officeDocument/2006/relationships/notesMaster" Target="/ppt/notesMasters/notesMaster1.xml" Id="Rc6293dde97ba4e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d1a370bcc549c7" /><Relationship Type="http://schemas.openxmlformats.org/officeDocument/2006/relationships/notesMaster" Target="/ppt/notesMasters/notesMaster1.xml" Id="R8a4493da9f6848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cb5eaa86424466" /><Relationship Type="http://schemas.openxmlformats.org/officeDocument/2006/relationships/notesMaster" Target="/ppt/notesMasters/notesMaster1.xml" Id="R1c930d3df4e741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75ed7137604707" /><Relationship Type="http://schemas.openxmlformats.org/officeDocument/2006/relationships/notesMaster" Target="/ppt/notesMasters/notesMaster1.xml" Id="R07b56f7f086b4e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06b4658c4b4518" /><Relationship Type="http://schemas.openxmlformats.org/officeDocument/2006/relationships/notesMaster" Target="/ppt/notesMasters/notesMaster1.xml" Id="R7123189b32ef43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b3b0111c764aab" /><Relationship Type="http://schemas.openxmlformats.org/officeDocument/2006/relationships/notesMaster" Target="/ppt/notesMasters/notesMaster1.xml" Id="R58f6c87bef5e49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2e85d33ac641b2" /><Relationship Type="http://schemas.openxmlformats.org/officeDocument/2006/relationships/notesMaster" Target="/ppt/notesMasters/notesMaster1.xml" Id="Rc3ebc3735e6f46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d0ec15d0945e6" /><Relationship Type="http://schemas.openxmlformats.org/officeDocument/2006/relationships/notesMaster" Target="/ppt/notesMasters/notesMaster1.xml" Id="Rfbf2b2cae4c744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6b474731d64601" /><Relationship Type="http://schemas.openxmlformats.org/officeDocument/2006/relationships/notesMaster" Target="/ppt/notesMasters/notesMaster1.xml" Id="R3b4d01141789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Fahim turns each learning interaction into evidence that a learner understood, corrected a misconception, and retained the concept.</a:t>
            </a:r>
          </a:p>
          <a:p xmlns:a="http://schemas.openxmlformats.org/drawingml/2006/main">
            <a:r>
              <a:t>Live prototype: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statement: content access has improved faster than evidence of understanding.</a:t>
            </a:r>
          </a:p>
          <a:p xmlns:a="http://schemas.openxmlformats.org/drawingml/2006/main">
            <a:r>
              <a:t>Sources: https://moe.gov.eg/media/ekfp2puv/strategic_plan_en.pdf ; https://moe.gov.eg/ar/what-s-on/news/22-7-2025/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today: desk research plus a production MVP. Do not imply that the pilot has already happened.</a:t>
            </a:r>
          </a:p>
          <a:p xmlns:a="http://schemas.openxmlformats.org/drawingml/2006/main">
            <a:r>
              <a:t>Application states a planned four-week pilot with one teacher and 12–20 learners.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GenAI is the adaptive reasoning layer. Fixed rules cannot respond to each learner's source, language, reasoning path, and misconception at scale.</a:t>
            </a:r>
          </a:p>
          <a:p xmlns:a="http://schemas.openxmlformats.org/drawingml/2006/main">
            <a:r>
              <a:t>Product reference captured from https://fahim-ai-egypt.vercel.app/how-it-works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20 seconds hook, 30 seconds setup, 90 seconds hero path, 50 seconds trust, 30 seconds outcome, 20 seconds buffer.</a:t>
            </a:r>
          </a:p>
          <a:p xmlns:a="http://schemas.openxmlformats.org/drawingml/2006/main">
            <a:r>
              <a:t>Live demo: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design: pre-check, guided learning session, immediate post-check, delayed check after seven days.</a:t>
            </a:r>
          </a:p>
          <a:p xmlns:a="http://schemas.openxmlformats.org/drawingml/2006/main">
            <a:r>
              <a:t>The pilot target is a hypothesis and should be approved with the partner teacher before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is a hypothesis for validation, not a final commercial decision.</a:t>
            </a:r>
          </a:p>
          <a:p xmlns:a="http://schemas.openxmlformats.org/drawingml/2006/main">
            <a:r>
              <a:t>Adoption roles: learner uses, parent or school may fund, institution approves, teacher champions the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single ask: access to one partner setting for a measured four-week pilot.</a:t>
            </a:r>
          </a:p>
          <a:p xmlns:a="http://schemas.openxmlformats.org/drawingml/2006/main">
            <a:r>
              <a:t>Contact: marwanyasser23@science.helwan.edu.eg ; Demo: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Competitor references reviewed in product planning: ChatGPT Study Mode, NotebookLM, Perplexity Learn, Khan Academy, Coursera, and regional Arabic learning products.</a:t>
            </a:r>
          </a:p>
          <a:p xmlns:a="http://schemas.openxmlformats.org/drawingml/2006/main">
            <a:r>
              <a:t>Avoid claiming that no competitor can add similar features. The current differentiation is the integrated evidence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validation reflects the current repository verification: 155 tests, 65 tables with RLS coverage, three AI provider failover paths, and 23 production routes checked.</a:t>
            </a:r>
          </a:p>
          <a:p xmlns:a="http://schemas.openxmlformats.org/drawingml/2006/main">
            <a:r>
              <a:t>Do not present these engineering checks as learning-outcome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scope should remain small enough for direct observation and fast iteration.</a:t>
            </a:r>
          </a:p>
          <a:p xmlns:a="http://schemas.openxmlformats.org/drawingml/2006/main">
            <a:r>
              <a:t>All pilot outcomes must be reported with sample size, dates, setting, method,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only for Q&amp;A or as a backup close.</a:t>
            </a:r>
          </a:p>
          <a:p xmlns:a="http://schemas.openxmlformats.org/drawingml/2006/main">
            <a:r>
              <a:t>Live demo: https://fahim-ai-egypt.vercel.app/showcase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d7c1798f6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cd660951a4351" /><Relationship Type="http://schemas.openxmlformats.org/officeDocument/2006/relationships/slideLayout" Target="/ppt/slideLayouts/slideLayout1.xml" Id="R22c7d6b60e044d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7d6b60e044d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58ab5e4b743ae" /><Relationship Type="http://schemas.openxmlformats.org/officeDocument/2006/relationships/image" Target="/ppt/media/image.png" Id="R431ee89d2873434c" /><Relationship Type="http://schemas.openxmlformats.org/officeDocument/2006/relationships/image" Target="/ppt/media/image2.png" Id="R862b4d23269b49fb" /><Relationship Type="http://schemas.openxmlformats.org/officeDocument/2006/relationships/image" Target="/ppt/media/image.svg" Id="R77078655825946ea" /><Relationship Type="http://schemas.openxmlformats.org/officeDocument/2006/relationships/notesSlide" Target="/ppt/notesSlides/notesSlide1.xml" Id="R011ebcaeab35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1f70167ba40a3" /><Relationship Type="http://schemas.openxmlformats.org/officeDocument/2006/relationships/image" Target="/ppt/media/image3.png" Id="Rf78cf98d4dda47ab" /><Relationship Type="http://schemas.openxmlformats.org/officeDocument/2006/relationships/image" Target="/ppt/media/image2.svg" Id="R8dad3923f0cc4644" /><Relationship Type="http://schemas.openxmlformats.org/officeDocument/2006/relationships/image" Target="/ppt/media/image4.png" Id="R85d7d1ad25b74635" /><Relationship Type="http://schemas.openxmlformats.org/officeDocument/2006/relationships/notesSlide" Target="/ppt/notesSlides/notesSlide2.xml" Id="Re8bd1ad7146043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e1622afde4ba1" /><Relationship Type="http://schemas.openxmlformats.org/officeDocument/2006/relationships/image" Target="/ppt/media/image5.png" Id="R4d550c46f44f4a14" /><Relationship Type="http://schemas.openxmlformats.org/officeDocument/2006/relationships/image" Target="/ppt/media/image3.svg" Id="Rc9a15136f0ca4070" /><Relationship Type="http://schemas.openxmlformats.org/officeDocument/2006/relationships/notesSlide" Target="/ppt/notesSlides/notesSlide3.xml" Id="Rf065a4037965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8d2899c024dd6" /><Relationship Type="http://schemas.openxmlformats.org/officeDocument/2006/relationships/image" Target="/ppt/media/image6.png" Id="R61c58abad694493b" /><Relationship Type="http://schemas.openxmlformats.org/officeDocument/2006/relationships/image" Target="/ppt/media/image4.svg" Id="R3d55e66553514dd6" /><Relationship Type="http://schemas.openxmlformats.org/officeDocument/2006/relationships/image" Target="/ppt/media/image7.png" Id="Reaecc2fd97894297" /><Relationship Type="http://schemas.openxmlformats.org/officeDocument/2006/relationships/notesSlide" Target="/ppt/notesSlides/notesSlide4.xml" Id="R1f10fdf25ec94b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54c4b3d640d0" /><Relationship Type="http://schemas.openxmlformats.org/officeDocument/2006/relationships/image" Target="/ppt/media/image8.png" Id="R5417cad847aa4a8e" /><Relationship Type="http://schemas.openxmlformats.org/officeDocument/2006/relationships/image" Target="/ppt/media/image5.svg" Id="R707fc98a74cf4282" /><Relationship Type="http://schemas.openxmlformats.org/officeDocument/2006/relationships/image" Target="/ppt/media/image9.png" Id="R6e12be952ca74c0a" /><Relationship Type="http://schemas.openxmlformats.org/officeDocument/2006/relationships/image" Target="/ppt/media/image10.png" Id="R0e02a2b462dd4a74" /><Relationship Type="http://schemas.openxmlformats.org/officeDocument/2006/relationships/notesSlide" Target="/ppt/notesSlides/notesSlide5.xml" Id="R75c0bc231d6d4e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79ecfb3404f70" /><Relationship Type="http://schemas.openxmlformats.org/officeDocument/2006/relationships/image" Target="/ppt/media/image11.png" Id="Ra351e3a45ce84c91" /><Relationship Type="http://schemas.openxmlformats.org/officeDocument/2006/relationships/image" Target="/ppt/media/image6.svg" Id="Rf5b7a36c075a4cc7" /><Relationship Type="http://schemas.openxmlformats.org/officeDocument/2006/relationships/notesSlide" Target="/ppt/notesSlides/notesSlide6.xml" Id="R329f0af0d3b646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6df11e51849fd" /><Relationship Type="http://schemas.openxmlformats.org/officeDocument/2006/relationships/image" Target="/ppt/media/image12.png" Id="R0533081cfbb7497d" /><Relationship Type="http://schemas.openxmlformats.org/officeDocument/2006/relationships/image" Target="/ppt/media/image7.svg" Id="R3573212627eb40d1" /><Relationship Type="http://schemas.openxmlformats.org/officeDocument/2006/relationships/image" Target="/ppt/media/image13.png" Id="Rf4b84d4d6ec1427e" /><Relationship Type="http://schemas.openxmlformats.org/officeDocument/2006/relationships/notesSlide" Target="/ppt/notesSlides/notesSlide7.xml" Id="R042da72740974e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d1722b49841d0" /><Relationship Type="http://schemas.openxmlformats.org/officeDocument/2006/relationships/image" Target="/ppt/media/image14.png" Id="R5a43897418d24c94" /><Relationship Type="http://schemas.openxmlformats.org/officeDocument/2006/relationships/image" Target="/ppt/media/image15.png" Id="Rfbc2b16c651f4abd" /><Relationship Type="http://schemas.openxmlformats.org/officeDocument/2006/relationships/image" Target="/ppt/media/image8.svg" Id="Rc9e478eab37f454f" /><Relationship Type="http://schemas.openxmlformats.org/officeDocument/2006/relationships/image" Target="/ppt/media/image16.png" Id="R3a872847dfa84c57" /><Relationship Type="http://schemas.openxmlformats.org/officeDocument/2006/relationships/image" Target="/ppt/media/image17.png" Id="Ra6baeb7dbf4840c2" /><Relationship Type="http://schemas.openxmlformats.org/officeDocument/2006/relationships/notesSlide" Target="/ppt/notesSlides/notesSlide8.xml" Id="R32681dccf95347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0ca3dcbda49c9" /><Relationship Type="http://schemas.openxmlformats.org/officeDocument/2006/relationships/image" Target="/ppt/media/image18.png" Id="R2a864f8d4dfb47bf" /><Relationship Type="http://schemas.openxmlformats.org/officeDocument/2006/relationships/image" Target="/ppt/media/image9.svg" Id="R132cf17c612243f9" /><Relationship Type="http://schemas.openxmlformats.org/officeDocument/2006/relationships/notesSlide" Target="/ppt/notesSlides/notesSlide9.xml" Id="R1be460067f2f4e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cfb3610e94ed8" /><Relationship Type="http://schemas.openxmlformats.org/officeDocument/2006/relationships/image" Target="/ppt/media/image19.png" Id="R7078d8d8927d4106" /><Relationship Type="http://schemas.openxmlformats.org/officeDocument/2006/relationships/image" Target="/ppt/media/image10.svg" Id="R163795a926684dce" /><Relationship Type="http://schemas.openxmlformats.org/officeDocument/2006/relationships/notesSlide" Target="/ppt/notesSlides/notesSlide10.xml" Id="Rececacb5eade49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f9e57ae9d4a0e" /><Relationship Type="http://schemas.openxmlformats.org/officeDocument/2006/relationships/image" Target="/ppt/media/image20.png" Id="R73f483008b20440b" /><Relationship Type="http://schemas.openxmlformats.org/officeDocument/2006/relationships/image" Target="/ppt/media/image11.svg" Id="Rd99eb02f0b8d41e7" /><Relationship Type="http://schemas.openxmlformats.org/officeDocument/2006/relationships/notesSlide" Target="/ppt/notesSlides/notesSlide11.xml" Id="Rcc4d0c8b39b044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96512cead4e34" /><Relationship Type="http://schemas.openxmlformats.org/officeDocument/2006/relationships/image" Target="/ppt/media/image21.png" Id="Rc71bb79a87574804" /><Relationship Type="http://schemas.openxmlformats.org/officeDocument/2006/relationships/image" Target="/ppt/media/image12.svg" Id="R9077294b9cf94df4" /><Relationship Type="http://schemas.openxmlformats.org/officeDocument/2006/relationships/notesSlide" Target="/ppt/notesSlides/notesSlide12.xml" Id="Re10aad825a5840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ee89d287343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03644-1B09-407A-88AD-9C1BF04A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33"/>
              </a:gs>
              <a:gs pos="85000">
                <a:srgbClr val="0B1733">
                  <a:alpha val="85098"/>
                </a:srgbClr>
              </a:gs>
              <a:gs pos="100000">
                <a:srgbClr val="0B1733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b4d23269b49fb">
            <a:extLst>
              <a:ext uri="{96DAC541-7B7A-43D3-8B79-37D633B846F1}">
                <asvg:svgBlip xmlns:asvg="http://schemas.microsoft.com/office/drawing/2016/SVG/main" r:embed="R77078655825946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57200"/>
            <a:ext cx="17907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6C618-A63C-48A8-9ED1-5CB3E81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Evidence that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learning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86BFE-814B-4574-87E2-85D62F1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B93B"/>
                </a:solidFill>
                <a:latin typeface="Noto Kufi Arabic"/>
                <a:ea typeface="Noto Kufi Arabic"/>
                <a:cs typeface="Noto Kufi Arabic"/>
              </a:defRPr>
            </a:pPr>
            <a:r>
              <a:rPr sz="2100" b="1">
                <a:solidFill>
                  <a:srgbClr val="F6B93B"/>
                </a:solidFill>
                <a:latin typeface="Noto Kufi Arabic"/>
                <a:ea typeface="Noto Kufi Arabic"/>
                <a:cs typeface="Noto Kufi Arabic"/>
              </a:rPr>
              <a:t>افهمها. اثبتها. افتكرها.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0D4E2-B308-4627-A0DC-68EBE1D9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Fahim finds the misconception behind an answer, chooses the next learning action, and checks retention.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4177B-758D-42BE-8B6D-9FF6B190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8C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B86B2-81E2-4B01-BA13-7305AB0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STUDENT TRACK   ASSESSMENT REVOLUTION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8B3E9-56C8-433E-A4B2-3A8F738C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GenAI for Education Hackathon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F7BCC-BC46-4C3E-893A-BDE82AE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Team Fahim AI</a:t>
            </a:r>
          </a:p>
        </p:txBody>
      </p:sp>
    </p:spTree>
    <p:extLst>
      <p:ext uri="{BB962C8B-B14F-4D97-AF65-F5344CB8AC3E}">
        <p14:creationId xmlns:p14="http://schemas.microsoft.com/office/powerpoint/2010/main" val="24945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436BB-9DDF-4B31-A9BD-AFF7046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55A5C-886E-47BF-8B78-F581488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cf98d4dda47ab">
            <a:extLst>
              <a:ext uri="{96DAC541-7B7A-43D3-8B79-37D633B846F1}">
                <asvg:svgBlip xmlns:asvg="http://schemas.microsoft.com/office/drawing/2016/SVG/main" r:embed="R8dad3923f0cc46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8D18B-5E87-40F2-BE1B-C786718A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01 /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C27C9-09A3-4BC7-B981-A533EC2E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D61F8-71C7-448D-909D-22757835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Correct answers can conceal persistent misconceptions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976ED-EBC6-41B5-BD96-FA55FEB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Arabic-speaking STEM learners can reach explanations quickly. Most tools stop before diagnosing the failed reasoning or checking whether the learning lasts.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7d1ad25b74635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4762500" cy="3714750"/>
          </a:xfrm>
          <a:prstGeom xmlns:a="http://schemas.openxmlformats.org/drawingml/2006/main" prst="roundRect">
            <a:avLst>
              <a:gd name="adj" fmla="val 71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954B2-4DA5-48AB-B326-F0CAF40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95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84700-1639-4ACD-B4FB-20598283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“I found the answer. I still cannot explain it.”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AAC64-789E-41FD-8B35-E382A71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THE FAILURE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7CA3B-2A9F-4E40-A794-76DBBA0B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One-off correctness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F2500-BA46-46D8-B7C1-8BC316F6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learner repeats the right answer, but the underlying reasoning remains wrong. The same gap returns in the next unit.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C700F-4278-4E8A-B1F5-F4F14DA6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4FC55-2742-4FDD-A8F4-DB82C88B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338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25M+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19885-7FB9-4E42-A9C8-DB6E11E5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244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pre-university learners in Egypt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0C22B-F4E8-4DC2-99FD-29136647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785,099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5C2A6-3047-40A6-BE27-41252FB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general secondary exam applicants, 2024/2025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24BF7-A989-4291-BAC0-423F5E07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816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Sources: Egypt Ministry of Education strategy and 22 July 2025 results release</a:t>
            </a:r>
          </a:p>
        </p:txBody>
      </p:sp>
    </p:spTree>
    <p:extLst>
      <p:ext uri="{BB962C8B-B14F-4D97-AF65-F5344CB8AC3E}">
        <p14:creationId xmlns:p14="http://schemas.microsoft.com/office/powerpoint/2010/main" val="2036007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EA0D1-B03A-42EB-BAE7-F47DA183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07708-6FC4-4D8B-8EE9-289CF1B6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50c46f44f4a14">
            <a:extLst>
              <a:ext uri="{96DAC541-7B7A-43D3-8B79-37D633B846F1}">
                <asvg:svgBlip xmlns:asvg="http://schemas.microsoft.com/office/drawing/2016/SVG/main" r:embed="Rc9a15136f0ca40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2774B-7401-4C65-B01F-B53E3255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02 / USER +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7474A-11A5-484E-B40F-6C7AEBF9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48A25-03A1-4ACD-A605-1F2C3D0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The first user: Mariam under exam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9FDC8-6391-4FA6-AE17-4C51751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She studies STEM in Arabic and English and needs to recover a specific concept gap before it appears again.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CF7FC-2869-4402-BF41-4A04FEF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476750" cy="3790950"/>
          </a:xfrm>
          <a:prstGeom xmlns:a="http://schemas.openxmlformats.org/drawingml/2006/main" prst="roundRect">
            <a:avLst>
              <a:gd name="adj" fmla="val 7538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88913-1CAA-4F4D-BF9B-8412759E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MARIAM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C8089-9280-4F02-AA45-BCB7A00C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52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High-stakes learner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Arabic explanation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English terminology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8FDC4-6095-4008-A5C6-A06A4B10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50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Her job: understand the concept well enough to explain it, apply it, and recall it later.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0260F-0846-4A14-9D03-417513C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76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WHAT WE KNOW 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9C2C-3987-4AFD-AF0D-12B8A04A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DCDB5-C0A1-47A6-AB6F-783039A1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Desk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88640-CADE-4165-9294-43D70D5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National scale and documented capacity and infrastructure constraints.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2341A-CD20-48DB-8136-93388956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099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218BA-9B32-488C-86CB-48A1024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Working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83544-9672-4A66-AEC0-84121E0C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814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Authentication, retrieval, citations, AI generation, signed grading, and spaced review run end to end.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5AE49-12ED-45D1-8724-0503BBF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767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DDEF9-6B30-43BE-800A-9E4BD7EB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05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Evidence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AE96F-F3DE-4611-A1D3-059B2C9D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We do not claim pilot learning outcomes yet. The next step is a consented classroom pilot.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87731-84C3-44BB-B925-52EBD9C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143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923BB-2E3A-4F1F-9DA5-65F12EF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0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Proven today: the workflow runs end to end. Next proof: measured learning improvement.</a:t>
            </a:r>
          </a:p>
        </p:txBody>
      </p:sp>
    </p:spTree>
    <p:extLst>
      <p:ext uri="{BB962C8B-B14F-4D97-AF65-F5344CB8AC3E}">
        <p14:creationId xmlns:p14="http://schemas.microsoft.com/office/powerpoint/2010/main" val="214254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F7329A-024D-4514-BF7F-E51C2DC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092A6-6673-4C09-B134-082D15EC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58abad694493b">
            <a:extLst>
              <a:ext uri="{96DAC541-7B7A-43D3-8B79-37D633B846F1}">
                <asvg:svgBlip xmlns:asvg="http://schemas.microsoft.com/office/drawing/2016/SVG/main" r:embed="R3d55e66553514d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2D54C-B948-4E4F-B290-BE77B347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03 / SOLUTION + WHY GENAI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FB3DB-4E67-4F78-988D-4613C05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2C320-D56D-4C10-A21C-779879BE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The Fahim learning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87147-4BB3-486F-979C-AB8DB9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Each session links the learner’s source and reasoning to a specific intervention, a transfer task, and a scheduled review.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cc2fd97894297"/>
          <a:srcRect xmlns:a="http://schemas.openxmlformats.org/drawingml/2006/main" l="1705" t="0" r="17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52625"/>
            <a:ext cx="4857750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EE39F-087F-47A8-90DF-E1A743F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5910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F020A-B8E5-4E41-945C-2CBFD29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Live product journey, not a concept mockup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C54B6-FEFB-43E2-B182-E62BC1BC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1DDDB-6579-46DB-8848-2A394B0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859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2102F-6B03-467F-A75A-7DE51AE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Trusted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1BDC1-1557-4212-B856-7AA0A16F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8886D-620F-4421-B423-8C4E3695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0ABA2-0280-4ECF-A4E4-E599EE6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9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2C335-27C5-4F8A-AB62-BC02A81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Learner attempt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680F0-9BD8-4681-B1C0-0677EE52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C95E1-330C-461F-89C1-96E413F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B50EA-9BA4-46DD-82AB-D8D3378E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051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1EF65-DCB9-4057-9FFF-99B558C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Misconception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F5403-36E5-4FBF-B133-54108A6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C01D8-1CD1-44C1-9C06-EA8911A5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6F395-536E-4891-B983-81EBF5DD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147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8A5E9-5347-40A7-91A9-68A94FF3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Targeted intervention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5D243-E71F-427A-B047-B4D1A1F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98CEC-7364-47E8-9DAB-E1B6D47F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87D9E1-5376-4115-A604-73AB9C90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A77D3-4C6E-4570-9E4B-9A8BD3E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New application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2CC2F-C150-42FE-A139-F4EAFC7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7F939F-E217-4135-B1F6-B8E22279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F868F-E24F-458D-AB0D-A77C0CF5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339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41D469-4CF0-47DE-B3B4-A54A372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05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Evidence +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3D2FF2-4067-4813-9472-8D816E1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34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WHY GENAI IS 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F20CE-ABD7-4348-9893-1E5DE229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38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It interprets free-text reasoning, grounds the response in evidence, and creates the next test for this learner.</a:t>
            </a:r>
          </a:p>
        </p:txBody>
      </p:sp>
    </p:spTree>
    <p:extLst>
      <p:ext uri="{BB962C8B-B14F-4D97-AF65-F5344CB8AC3E}">
        <p14:creationId xmlns:p14="http://schemas.microsoft.com/office/powerpoint/2010/main" val="1901540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E3B31-610F-48D0-AB92-94FE7AA6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CCD1F-245B-48A5-91E5-F068E01C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7cad847aa4a8e">
            <a:extLst>
              <a:ext uri="{96DAC541-7B7A-43D3-8B79-37D633B846F1}">
                <asvg:svgBlip xmlns:asvg="http://schemas.microsoft.com/office/drawing/2016/SVG/main" r:embed="R707fc98a74cf42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F4D8E-B600-4C8F-9297-17B9E19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04 / DEMO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100F2-917D-44EF-945F-A420CC61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439B7-1547-4299-8FC5-A615F512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Demo: Newton’s second law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94609-D0B0-4C58-81C0-EE402712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Mariam explains one answer in her own words. Fahim identifies the likely misconception and tests it with a new task.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2be952ca74c0a"/>
          <a:srcRect xmlns:a="http://schemas.openxmlformats.org/drawingml/2006/main" l="0" t="6842" r="0" b="6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24050"/>
            <a:ext cx="7239000" cy="3905250"/>
          </a:xfrm>
          <a:prstGeom xmlns:a="http://schemas.openxmlformats.org/drawingml/2006/main" prst="roundRect">
            <a:avLst>
              <a:gd name="adj" fmla="val 63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42D66-CBD2-4C12-B3B8-A60D6290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524250" cy="3905250"/>
          </a:xfrm>
          <a:prstGeom xmlns:a="http://schemas.openxmlformats.org/drawingml/2006/main" prst="roundRect">
            <a:avLst>
              <a:gd name="adj" fmla="val 702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20DC6-D0DD-4760-9923-015F7C6C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3AD7F-1521-4D05-8964-0FB2014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29F0E-0C85-4375-A3C2-89EA9F9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Mariam opens Newton’s second law from a trusted source.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AF443-8D26-44FC-8764-FD0AEBA4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E88D0-84B7-4E7F-A249-07A7D423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2751D-4E8B-435D-A7DE-721678D1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3C21F-2E4A-4F09-9398-0F73FEAA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She explains the answer in her own words.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83A54-73AB-4A09-BEEF-CD9016D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D61A0-30D7-49A3-8A33-6FBB3391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74625-534C-41E3-9513-58C2998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Diagnose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A8F90-FDB3-4B02-8B4B-CBB66BC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Fahim proposes a revisable misconception hypothesis.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E7850-939F-46A3-972A-E41AF8A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18FE9-4BBF-4D79-A4F9-A3CC9875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A9ADB-2388-452C-AF9F-69494128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8B740-B95B-4A80-950E-559A8DD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0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 new task checks transfer, then schedules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A5914-9ADC-45BC-A91B-CBD5494F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F8CCA-A1EF-4DCF-A2BE-2309C9B5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evidence chain connects the source, the learner’s reasoning, the diagnosis and the delayed review.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2a2b462dd4a74"/>
          <a:stretch xmlns:a="http://schemas.openxmlformats.org/drawingml/2006/main"/>
        </p:blipFill>
        <p:spPr>
          <a:xfrm xmlns:a="http://schemas.openxmlformats.org/drawingml/2006/main">
            <a:off x="10648950" y="5953125"/>
            <a:ext cx="590550" cy="59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74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54CE50-AAB4-42F3-AAEE-C683D28D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728AE-EC07-4027-8A8B-BBC6B9DF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1e3a45ce84c91">
            <a:extLst>
              <a:ext uri="{96DAC541-7B7A-43D3-8B79-37D633B846F1}">
                <asvg:svgBlip xmlns:asvg="http://schemas.microsoft.com/office/drawing/2016/SVG/main" r:embed="Rf5b7a36c075a4c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39D5D-3E19-4A13-B563-092EF861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05 / IMPACT +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915B3-1E0B-46C2-BBB8-781FEB6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4B9BC-A1FF-44C7-A920-2D3AEA2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Pilot measurement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C5D1A-84F0-4F0E-9CAC-BF04488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working MVP is ready for a consented four-week study of misconception correction and seven-day retention.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3BE13-ABFA-408C-92D8-6D106B7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EVIDENCE LADDER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60D72-0CE9-41EE-9A35-E70255E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242BB-EFA1-41F1-BA8D-F997EC1C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9525">
            <a:solidFill>
              <a:srgbClr val="008C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875F5-A9E6-4211-996A-A58D6F39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E2784-3632-4F22-A976-7C53FB1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57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313A2-CBBD-4873-8FA6-C6B2052E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623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Desk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83046-B2A5-4BC2-9FBB-F363AD9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432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9525">
            <a:solidFill>
              <a:srgbClr val="008C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5D1AE-2929-49C3-9F9A-D40DBFB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118D6-AED2-4928-A129-0C55C165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57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Usability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292F3-4F0B-4C97-9B3C-AA1346A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Working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31F46-10EE-42C5-9B56-D34D50E8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432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265B9-E8DF-42C0-B422-72D37807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DD857-BB66-4FC3-8B8D-CF649221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623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E34D9-6159-4171-9FB2-2B71018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3626A-6021-42DB-B8EE-29D9598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8815E-6275-4AD3-A3C9-1DC9817C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623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Delayed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1BCEA-D0CC-4301-B84E-6E91A859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432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9EF09-8E7C-4411-A052-E0F165C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57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Adoption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CE169-FF04-4B68-8398-830A260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623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Repeat cohort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0C352-C049-4C7C-A4D5-40FA5FAA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57275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95BCD-E8EE-4CF8-9300-026C5B8D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4 weeks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E72C9-E8D2-4FAE-99BC-F02FCD4C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12–20 learners</a:t>
            </a:r>
          </a:p>
          <a:p xmlns:a="http://schemas.openxmlformats.org/drawingml/2006/main">
            <a:pPr algn="l">
              <a:defRPr sz="17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1 teacher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1FB2F-2C85-4E86-8E7F-CF4B87C8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Primary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F9DE08-34B7-41DE-A18E-CFC73FD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14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Misconception correction 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B1710-3868-467A-956F-4E1D7B97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Delayed measure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E0691D-C29F-41AD-B32F-C9630169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Retention after 7 days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0DC5D1-7F3B-47D8-B28F-6F191197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054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Guardrails: unsafe-answer rate and teacher review 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B387A3-E8A3-48EF-A56E-2481E568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E860A-C93D-4E79-936B-936C22B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No pilot results are claimed in this deck.</a:t>
            </a:r>
          </a:p>
        </p:txBody>
      </p:sp>
    </p:spTree>
    <p:extLst>
      <p:ext uri="{BB962C8B-B14F-4D97-AF65-F5344CB8AC3E}">
        <p14:creationId xmlns:p14="http://schemas.microsoft.com/office/powerpoint/2010/main" val="1247476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F1A91-5741-464D-A737-3CA0D22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4E01F-32A2-4AA7-BEA9-B5860BAB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3081cfbb7497d">
            <a:extLst>
              <a:ext uri="{96DAC541-7B7A-43D3-8B79-37D633B846F1}">
                <asvg:svgBlip xmlns:asvg="http://schemas.microsoft.com/office/drawing/2016/SVG/main" r:embed="R3573212627eb40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263E2-2BB5-483B-B94E-46A776C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06 / ADOPTION +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87F7C-4C54-4984-A771-E99178C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87650-A7D6-4CA6-A340-D3026D2B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Adoption starts with the learner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FF63C-AF37-4D87-90EF-C4FBC277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Immediate study value creates the entry point. Teachers and institutions gain visibility into learning gaps without reading private chats.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84d4d6ec1427e"/>
          <a:srcRect xmlns:a="http://schemas.openxmlformats.org/drawingml/2006/main" l="10063" t="0" r="100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2000250"/>
            <a:ext cx="4057650" cy="38100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62F58-BB22-41AA-BB8B-CAA1019C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286500" cy="10477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B6B92-C29B-4BD0-9708-26D50DE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BEACHHEAD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6247E-1C6D-445D-B512-82B02C0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Secondary and university STEM learners preparing for high-stakes assessment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1E58D-B9E3-45B2-A55A-0A70F359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ADOPTION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4144A-2889-4E6A-B0B3-ECDF67AD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9050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2E3ED-CE73-4DA0-A27E-D98E1BC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4E496-B036-46E0-873F-482E58CF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Student self-serve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3F8F9-D907-4522-9A4C-B1A6C167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Immediate study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ADF1D-80BE-43D7-89AE-CE48585B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9050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F4926-C5A8-41E8-9BE4-D1B97DA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D3B81-6D4D-4A09-9A49-E58C7FC3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Teacher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209C5-A898-48CE-8644-408A0505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Misconception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DB674-3661-48E9-B8EB-E42755F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19050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6BBFD-998E-46A8-8370-BFDD743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54F59-D64E-4103-9D3F-1099012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School license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E5469-DC24-4FFA-B655-86A32EF4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Outcome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FEBEC-4AB3-4E2A-AC96-3B9873C0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PRICING HYPOTHESES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A2957-A186-4E8E-9FB7-22616F4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Free access, Student Plus 99–149 EGP/month, Teacher Pro 249–399 EGP/month, schools priced per active learner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6E4D5-D3A3-40D5-9E24-EE19F487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Pilot discovery will test willingness to pay and retention. Prices are not final.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A3531-8A0F-4142-AF9C-9171C7F5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356235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1733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8A90A-230E-4384-BA26-4F33B064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721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Privacy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21F02-39FB-49A9-8047-65D2F9A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197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Teachers see patterns and priorities, not private learner chats.</a:t>
            </a:r>
          </a:p>
        </p:txBody>
      </p:sp>
    </p:spTree>
    <p:extLst>
      <p:ext uri="{BB962C8B-B14F-4D97-AF65-F5344CB8AC3E}">
        <p14:creationId xmlns:p14="http://schemas.microsoft.com/office/powerpoint/2010/main" val="1740187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3897418d24c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B5DAA-C117-4EA4-A278-01CF868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3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6CA44-FC4D-4584-B85C-9702DAA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FB0FF-B170-44E6-AAD5-41CC3A5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2b16c651f4abd">
            <a:extLst>
              <a:ext uri="{96DAC541-7B7A-43D3-8B79-37D633B846F1}">
                <asvg:svgBlip xmlns:asvg="http://schemas.microsoft.com/office/drawing/2016/SVG/main" r:embed="Rc9e478eab37f45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CB11D-1AC1-4BEE-B2B5-45CA5D9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07 / TEAM +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C7539-E1ED-4A4F-80E4-8BC407A9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BD1CD-79F4-479A-94CF-30FDA73E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Pilot partnership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129C7-C6FE-4604-ACA0-3F28F33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We seek one school or university partner for four weeks with 12–20 learners and one teacher.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72847dfa84c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14550"/>
            <a:ext cx="1485900" cy="148590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22898-BC7A-4998-B5A4-4B61B32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Marwan Yasser Hassan Abdelghaffar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9EA9A-CBE0-42C4-AF49-21CB48B2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Team Leader, Helwan University, Level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8B56F-0C96-4610-B9FB-329DA5C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Mostafa Yasser Hassan Abdelghaffar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55975-8A9B-4062-914D-48920695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Capital University, Level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4F6B5-3A90-4F6C-A0FC-D2C1E7D3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Basel Abdel-Maqsoud Ziada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E9419-8E04-4672-A268-2EB1B33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New Mansoura University, Fresh graduate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5C897-B8DB-4BB3-A467-FE83613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Jana Hossam Salah Abdelhakim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9AC3F-20B3-4232-AD51-B1974297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Capital University, Level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7026A-A8DD-4062-9B1E-609598B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362450" cy="30670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A58CB-A762-435D-A62D-60BDE4DE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THE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8E05C-C337-47C0-BDE5-12ABE44F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 consented pilot partner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90C8A-5462-4AD0-802D-A4722BE4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Success after four weeks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40724-D92B-48CE-852A-37F4C80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3600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Measure misconception correction, delayed retention, teacher review time, and safety guardrails.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aeb7dbf4840c2"/>
          <a:stretch xmlns:a="http://schemas.openxmlformats.org/drawingml/2006/main"/>
        </p:blipFill>
        <p:spPr>
          <a:xfrm xmlns:a="http://schemas.openxmlformats.org/drawingml/2006/main">
            <a:off x="9772650" y="52578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EE8CA-2253-42F6-84BB-6125892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67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LIVE PROTOTYPE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00C0C-598D-4179-8226-6BB49125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721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Scan to open the live prototype</a:t>
            </a:r>
          </a:p>
        </p:txBody>
      </p:sp>
    </p:spTree>
    <p:extLst>
      <p:ext uri="{BB962C8B-B14F-4D97-AF65-F5344CB8AC3E}">
        <p14:creationId xmlns:p14="http://schemas.microsoft.com/office/powerpoint/2010/main" val="108459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712F1-CDB0-4AE4-8279-28266DB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B9AB7-5A6E-495F-9083-BCC6082F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64f8d4dfb47bf">
            <a:extLst>
              <a:ext uri="{96DAC541-7B7A-43D3-8B79-37D633B846F1}">
                <asvg:svgBlip xmlns:asvg="http://schemas.microsoft.com/office/drawing/2016/SVG/main" r:embed="R132cf17c612243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BE929-8480-487B-8672-F4542975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APPENDIX / DIFFERENCE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1F186-86E8-4EB4-99AC-52493C87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3B28-D384-4D8C-B283-1D1A2416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Competitive difference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FE033-1BCA-4225-B4C7-DE5C0B86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Fahim keeps the learner’s source, attempt, misconception, intervention, transfer task, and later review in one evidence chain.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91B7B-C57A-4C24-B0D7-E86142A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571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E419B-A4F7-4689-BA40-7C72F79A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Alternative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D3D5D-9F60-48D3-9E33-5D880E5C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32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802C5-D1D2-45A5-BB01-5FC98E75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52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it does well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9D018-F2B5-444E-A94C-DC6D130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232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ACF2A-D6CA-449F-91D7-77C48B4B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remains 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ED4C5-9F19-4AB7-AD53-FDD341C5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198ED-5927-4378-AD58-39546898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Fahim’s difference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A5DAC-A8AB-4C53-B0A8-5D16BA7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D29B9-A27F-4F2D-9E42-87897E4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Generic AI assistants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F02BA-EF04-453B-ADC9-583B045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114EA-50F9-4545-856E-C0FF6F72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Fast explanations and dialogue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7BD18-1173-4C30-A2C3-8D04B7FE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BCCB0-944D-47CF-9F90-AEA4B47F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Weak continuity between attempt, error, and later retention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640D4-6F8F-4206-9688-14FF05E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7B46B-8CAD-428A-A87D-5EFB84C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Claim-level evidence and a persistent learning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74DF7-CAF2-445D-9C3C-95EE8F4B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94D39-B1B3-420A-A56E-3D7E556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Content and video platforms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7498B-7BC9-4BCD-968D-6F013D21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29F14-01D1-4E4E-A667-A8CF291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Breadth and structured courses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39CDC-6AB5-4D0B-9534-526F4155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5B8F7-DDA2-4878-870B-1EA5A1B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481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Consumption can look like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D9C0D-60B6-43F6-9550-59A2B34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F6A16-26E6-4598-8F17-C95F4B84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Attempt, transfer task, and delayed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6C06EE-00AA-41F7-9175-FF278B8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94C4F-B0B2-4DB7-8D90-2074071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Practice apps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C0B740-EEA1-438D-8DE1-198923D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6230D2-0230-459D-AA16-18629E69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387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Repeatable questions and scoring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5746E-E7EC-4B42-9A38-93D906D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2324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5FF2F2-A736-488D-BD74-FAF76C64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B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5223B"/>
                </a:solidFill>
                <a:latin typeface="Segoe UI"/>
                <a:ea typeface="Segoe UI"/>
                <a:cs typeface="Segoe UI"/>
              </a:rPr>
              <a:t>Limited free-text reasoning diagnosis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7C6A5D-772A-4D09-B9E9-97D80E6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75C268-1DB1-47B7-8B20-CFBCEB6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Revisable misconception hypothesis and targeted intervention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3A0716-8CD5-496A-B2AB-CE101053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156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9A9B5F-916C-4E28-B75B-6AF158DA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45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Defensible asset: a consented evidence graph of misconceptions, interventions, and retained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0276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2022D5-F8EA-467E-B253-7CE46F0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6082B-CBAF-4EAA-895A-D7984A31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8d8d8927d4106">
            <a:extLst>
              <a:ext uri="{96DAC541-7B7A-43D3-8B79-37D633B846F1}">
                <asvg:svgBlip xmlns:asvg="http://schemas.microsoft.com/office/drawing/2016/SVG/main" r:embed="R163795a926684d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61948-BB0E-49D6-A8D1-C282D27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APPENDIX / TECHNICAL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E58ED-7A8A-484A-AB42-6C133C28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08A9D-F131-4551-8FB0-4D93B9B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Technical architecture and trust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517C6-B7E0-49E6-9B6B-C7B5CEE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Each model response passes through retrieval, authorization, provenance checks, and auditable product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CAAD4-D45B-40BA-8D5F-CC82A95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19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45019-42C1-4FEB-9BF5-45EA447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Trusted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39079-C379-487D-BBFC-44772C22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Files, curriculum, verified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0192B-1DD7-4E68-9350-716A03E6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8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76523-5EF4-442F-BDCB-80431C74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619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67ADB-AB08-4561-90C4-C1016402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33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Hybrid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410A1-7DA6-4645-8D8C-1720A1EE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Keyword + semantic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459A5-EA2B-4195-96DB-127A506C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40B54-B5ED-4E9C-98F2-4AFA91B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1619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29D9A-072D-4DDB-8615-FEAF8948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AI model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D89C3-D1B4-4B11-9DC5-677861A3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Three-provider failover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C7321-51EF-4255-A3A5-BB5B8E9F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47003-837C-4CD3-A98B-A78719C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619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15BE4-F51E-412B-8FE6-D4424E3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Evidence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BB269-6128-4D55-9D87-C2D6B00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Verified, inferred, teaching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8EA5C-03AF-4A63-8503-3C28FF3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2C7D2-6BAB-40BE-955A-8299D91C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619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DF5C7-931E-45A3-B97B-34E525F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Signed grading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91ACD-786B-460B-9D46-F13EC77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Server-side assessment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BC154-8930-4F60-B1F0-6AD63B8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B9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C32B07-2BF3-4B73-92A6-8C0D590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1047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9525">
            <a:solidFill>
              <a:srgbClr val="008C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3A769-6C46-4494-8AD9-B26A03EE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336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DCCFB8-CDAC-40FC-9A32-E4A243F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57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F0EC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D9F0EC"/>
                </a:solidFill>
                <a:latin typeface="Segoe UI"/>
                <a:ea typeface="Segoe UI"/>
                <a:cs typeface="Segoe UI"/>
              </a:rPr>
              <a:t>Progress +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FADF6-B5A8-4708-A2DD-F4902CC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155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68D4B4-6930-4675-812D-05D0D62F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automated 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51C761-B849-4C28-91FD-06D4775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65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BDE9D9-A785-4044-A151-1217E286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RLS-protected tables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8DAF33-145C-4E60-AA5B-E809D834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38457-A93D-4464-AEF1-C87268F2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AI provider failover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31D07-F606-4DA4-B8BE-0DA3864A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7DF2DF-710A-4255-B8B9-F9B37AE1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production routes checked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14B4A7-E8C6-4EB8-85FE-8DCA724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1049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73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D51541-B787-4176-B986-FA663AC4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Security boundary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529F20-38BB-4E2F-864A-5ABF139D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24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Supabase Auth and RLS, protected routes, server-side authorization, signed quiz results, and credential issuance outside the model</a:t>
            </a:r>
          </a:p>
        </p:txBody>
      </p:sp>
    </p:spTree>
    <p:extLst>
      <p:ext uri="{BB962C8B-B14F-4D97-AF65-F5344CB8AC3E}">
        <p14:creationId xmlns:p14="http://schemas.microsoft.com/office/powerpoint/2010/main" val="2146425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39DE3-F34B-410E-A0FF-D6913AF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6B929-7DB3-47D5-9368-42032F1E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483008b20440b">
            <a:extLst>
              <a:ext uri="{96DAC541-7B7A-43D3-8B79-37D633B846F1}">
                <asvg:svgBlip xmlns:asvg="http://schemas.microsoft.com/office/drawing/2016/SVG/main" r:embed="Rd99eb02f0b8d41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9A39D-1B55-4B92-9E2D-F83D03CC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APPENDIX / PILOT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86766-8BAF-4E02-98DF-5656DC70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907D-EF0E-4973-BB6E-0C1C2ED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Four-week pilot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5875-35FB-49C9-A393-C4154CD8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The study tests whether the workflow corrects misconceptions and preserves improvement under classroom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53F23-90F8-4F30-86A0-255CEBAF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WEEK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F40B-F9DA-492F-A1FA-F7D0EDFD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1B0C7-D7AA-4A23-8118-1A91AAB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F6901-1C8C-4867-A223-0577B61B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Consent, teacher review, baseline task, known-good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E3CE6-7A21-40CB-BDD3-D22C1195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WEEK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669D7-4E37-4084-9676-7616E218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38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F8180-F69B-48C0-82FF-E00569A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47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B56A9-251A-4FD5-8D37-62DB7E5D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62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Run the hero workflow and log failure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3B333-A43F-4333-95B5-718B8208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WEEKS 2–3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09C0A-17B9-42B8-BCA8-067927A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38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452BF-958F-4331-825E-4015B94C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Adapt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C168D-37AB-4119-AA81-8E9F812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Target misconceptions and schedule spaced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2FEB2-514F-4127-8C21-1CC21D4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WEEK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7ABB0-8F46-4138-8130-05C4314F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6B9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FE393-67A5-4F16-BF56-BDB2B1D0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Measure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09B68-834A-4613-9D1B-A845B25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Post-check, seven-day retention, teacher debrief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14D30-B675-45D7-91F4-47EFD4AC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8EC1E-3230-49E1-A031-EA6DD4D1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521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E6521F"/>
                </a:solidFill>
                <a:latin typeface="Segoe UI"/>
                <a:ea typeface="Segoe UI"/>
                <a:cs typeface="Segoe UI"/>
              </a:rPr>
              <a:t>DECISION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B325C-CD9A-4757-ACB0-C0805D86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B1733"/>
                </a:solidFill>
                <a:latin typeface="Segoe UI"/>
                <a:ea typeface="Segoe UI"/>
                <a:cs typeface="Segoe UI"/>
              </a:rPr>
              <a:t>Continue only if the pilot shows usable diagnosis, measurable delayed retention, acceptable teacher review time, and no unresolved safety issue.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0DFCB-E47F-4E2A-BBF0-FC897C73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Pilot outputs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E9828-EB4B-46FD-BE52-B35B01D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Anonymized evidence report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Teacher workflow findings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Priority product changes</a:t>
            </a:r>
          </a:p>
        </p:txBody>
      </p:sp>
    </p:spTree>
    <p:extLst>
      <p:ext uri="{BB962C8B-B14F-4D97-AF65-F5344CB8AC3E}">
        <p14:creationId xmlns:p14="http://schemas.microsoft.com/office/powerpoint/2010/main" val="406796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410786-E7D5-4DBE-B138-33AA13C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1BDB3-EA12-4ABD-93FF-BAA4ED91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bb79a87574804">
            <a:extLst>
              <a:ext uri="{96DAC541-7B7A-43D3-8B79-37D633B846F1}">
                <asvg:svgBlip xmlns:asvg="http://schemas.microsoft.com/office/drawing/2016/SVG/main" r:embed="R9077294b9cf94d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96600" y="171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754C2-91FB-4857-965C-177807A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8C83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008C83"/>
                </a:solidFill>
                <a:latin typeface="Segoe UI"/>
                <a:ea typeface="Segoe UI"/>
                <a:cs typeface="Segoe UI"/>
              </a:rPr>
              <a:t>APPENDIX / Q&amp;A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5CB55-FF67-44BE-81AA-08C86626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67085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13BEB-B140-4657-93A1-593BEA2E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Judge questions and direct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165E2-F029-4548-94D0-A288116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The current evidence boundary stays clear: the product works, while learning impact still requires a measured pilot.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DCED8-69D3-4F12-88B5-B0E37D2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A0F5A-CBFB-4932-B676-D28AF1D8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Why GenAI?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D36CA-3E78-499F-A4AB-2B6D6CDA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It adapts to source, language, reasoning, and misconception. Rules alone cannot do this at scale.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C41C1-8A3A-456D-BFE1-03736DB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ACA35-F392-44A5-8777-F491F582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14C8E-77E1-446C-970B-E6E5200C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How do you limit wrong answers?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13460-4766-4CD2-9B82-1C93860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Retrieval, citations, evidence labels, human review paths, and model failover.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2B394-E5B4-444E-8879-81A687CC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6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B5A21-ECE3-4A1C-8F85-639DD7A1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41489-432C-447F-BBBB-5EEB727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What works today?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9B5A5-D2A8-4B68-B18A-08B12AEB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A production MVP with end-to-end auth, RAG, grading, review, and learning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A34B1-818D-4B06-84C2-5DDD467F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6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400F0-F854-4B3E-8B03-E4711C2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561E8-7B99-40B9-9A5E-F4117E0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What remains unproven?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8EDB6-2F78-4DB8-AF29-DEED7E2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Learning outcomes, willingness to pay, and classroom adoption under real conditions.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5C97E-2C95-4687-92A2-E689DAA7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AFACB-FD63-47E7-9599-72F334C8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93B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6B93B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4ABEF-4D1E-43F9-847A-B887DB4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7F1E7"/>
                </a:solidFill>
                <a:latin typeface="Segoe UI"/>
                <a:ea typeface="Segoe UI"/>
                <a:cs typeface="Segoe UI"/>
              </a:rPr>
              <a:t>What do you need now?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0349E-B23C-4F6F-B904-15B8685A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5DDEC"/>
                </a:solidFill>
                <a:latin typeface="Segoe UI"/>
                <a:ea typeface="Segoe UI"/>
                <a:cs typeface="Segoe UI"/>
              </a:rPr>
              <a:t>One partner for a consented four-week pilot with 12–20 learners and one teacher.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8B5C2-D859-4E07-BA9F-EF85ED7E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67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C8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833E4-BBC6-42F8-A5A3-E430ED5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388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Live demo: fahim-ai-egypt.vercel.app/showcase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DEF40-9C90-4CFF-A677-D005A483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3887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marwanyasser23@science.helwan.edu.eg</a:t>
            </a:r>
          </a:p>
        </p:txBody>
      </p:sp>
    </p:spTree>
    <p:extLst>
      <p:ext uri="{BB962C8B-B14F-4D97-AF65-F5344CB8AC3E}">
        <p14:creationId xmlns:p14="http://schemas.microsoft.com/office/powerpoint/2010/main" val="1695625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2026-09-17T05:48:56.9610000Z</dcterms:created>
  <dcterms:modified xsi:type="dcterms:W3CDTF">2026-09-17T05:48:56.9610000Z</dcterms:modified>
</coreProperties>
</file>