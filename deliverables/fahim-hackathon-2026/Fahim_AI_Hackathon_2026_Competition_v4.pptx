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1013438dbd43c9" /><Relationship Type="http://schemas.openxmlformats.org/officeDocument/2006/relationships/extended-properties" Target="/docProps/app.xml" Id="R73ba44748d354d2c" /><Relationship Type="http://schemas.openxmlformats.org/officeDocument/2006/relationships/officeDocument" Target="/ppt/presentation.xml" Id="R48d333c5ee3f47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6385f3cd6b4c85"/>
  </p:sldMasterIdLst>
  <p:notesMasterIdLst>
    <p:notesMasterId xmlns:r="http://schemas.openxmlformats.org/officeDocument/2006/relationships" r:id="R1bdde04db5c84673"/>
  </p:notesMasterIdLst>
  <p:sldIdLst>
    <p:sldId xmlns:r="http://schemas.openxmlformats.org/officeDocument/2006/relationships" id="256" r:id="R16afc6b18d314496"/>
    <p:sldId xmlns:r="http://schemas.openxmlformats.org/officeDocument/2006/relationships" id="257" r:id="Rc9753ad10b7c41c1"/>
    <p:sldId xmlns:r="http://schemas.openxmlformats.org/officeDocument/2006/relationships" id="258" r:id="R68c2af1d668949f0"/>
    <p:sldId xmlns:r="http://schemas.openxmlformats.org/officeDocument/2006/relationships" id="259" r:id="Rd86a328151d74e02"/>
    <p:sldId xmlns:r="http://schemas.openxmlformats.org/officeDocument/2006/relationships" id="260" r:id="Rb96e0f9836f948ab"/>
    <p:sldId xmlns:r="http://schemas.openxmlformats.org/officeDocument/2006/relationships" id="261" r:id="Rfd5f943f856c4718"/>
    <p:sldId xmlns:r="http://schemas.openxmlformats.org/officeDocument/2006/relationships" id="262" r:id="Rdb1bc17b54c34ed4"/>
    <p:sldId xmlns:r="http://schemas.openxmlformats.org/officeDocument/2006/relationships" id="263" r:id="Rd41301a46fd34a8b"/>
    <p:sldId xmlns:r="http://schemas.openxmlformats.org/officeDocument/2006/relationships" id="264" r:id="R4c17ef8fd54e4d9f"/>
    <p:sldId xmlns:r="http://schemas.openxmlformats.org/officeDocument/2006/relationships" id="265" r:id="R026322124ed64494"/>
    <p:sldId xmlns:r="http://schemas.openxmlformats.org/officeDocument/2006/relationships" id="266" r:id="R08d7f27210c043e9"/>
    <p:sldId xmlns:r="http://schemas.openxmlformats.org/officeDocument/2006/relationships" id="267" r:id="Rfc0acec0090847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8e8c5357484d00" /><Relationship Type="http://schemas.openxmlformats.org/officeDocument/2006/relationships/slideMaster" Target="/ppt/slideMasters/slideMaster1.xml" Id="Rbc6385f3cd6b4c85" /><Relationship Type="http://schemas.openxmlformats.org/officeDocument/2006/relationships/notesMaster" Target="/ppt/notesMasters/notesMaster1.xml" Id="R1bdde04db5c84673" /><Relationship Type="http://schemas.openxmlformats.org/officeDocument/2006/relationships/presProps" Target="/ppt/presProps.xml" Id="R2235b342e70c4bf5" /><Relationship Type="http://schemas.openxmlformats.org/officeDocument/2006/relationships/tableStyles" Target="/ppt/tableStyles.xml" Id="Rb5ff8ebbdcec47a8" /><Relationship Type="http://schemas.openxmlformats.org/officeDocument/2006/relationships/slide" Target="/ppt/slides/slide1.xml" Id="R16afc6b18d314496" /><Relationship Type="http://schemas.openxmlformats.org/officeDocument/2006/relationships/slide" Target="/ppt/slides/slide2.xml" Id="Rc9753ad10b7c41c1" /><Relationship Type="http://schemas.openxmlformats.org/officeDocument/2006/relationships/slide" Target="/ppt/slides/slide3.xml" Id="R68c2af1d668949f0" /><Relationship Type="http://schemas.openxmlformats.org/officeDocument/2006/relationships/slide" Target="/ppt/slides/slide4.xml" Id="Rd86a328151d74e02" /><Relationship Type="http://schemas.openxmlformats.org/officeDocument/2006/relationships/slide" Target="/ppt/slides/slide5.xml" Id="Rb96e0f9836f948ab" /><Relationship Type="http://schemas.openxmlformats.org/officeDocument/2006/relationships/slide" Target="/ppt/slides/slide6.xml" Id="Rfd5f943f856c4718" /><Relationship Type="http://schemas.openxmlformats.org/officeDocument/2006/relationships/slide" Target="/ppt/slides/slide7.xml" Id="Rdb1bc17b54c34ed4" /><Relationship Type="http://schemas.openxmlformats.org/officeDocument/2006/relationships/slide" Target="/ppt/slides/slide8.xml" Id="Rd41301a46fd34a8b" /><Relationship Type="http://schemas.openxmlformats.org/officeDocument/2006/relationships/slide" Target="/ppt/slides/slide9.xml" Id="R4c17ef8fd54e4d9f" /><Relationship Type="http://schemas.openxmlformats.org/officeDocument/2006/relationships/slide" Target="/ppt/slides/slide10.xml" Id="R026322124ed64494" /><Relationship Type="http://schemas.openxmlformats.org/officeDocument/2006/relationships/slide" Target="/ppt/slides/slide11.xml" Id="R08d7f27210c043e9" /><Relationship Type="http://schemas.openxmlformats.org/officeDocument/2006/relationships/slide" Target="/ppt/slides/slide12.xml" Id="Rfc0acec0090847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5aae86aac74c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a10707fa9e4f15" /><Relationship Type="http://schemas.openxmlformats.org/officeDocument/2006/relationships/notesMaster" Target="/ppt/notesMasters/notesMaster1.xml" Id="R360069f4e92047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38f37f61bd4a8b" /><Relationship Type="http://schemas.openxmlformats.org/officeDocument/2006/relationships/notesMaster" Target="/ppt/notesMasters/notesMaster1.xml" Id="Rdb96ebed03014d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1b5932d26448ae" /><Relationship Type="http://schemas.openxmlformats.org/officeDocument/2006/relationships/notesMaster" Target="/ppt/notesMasters/notesMaster1.xml" Id="R2d36d51daaee4b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882aff0d014240" /><Relationship Type="http://schemas.openxmlformats.org/officeDocument/2006/relationships/notesMaster" Target="/ppt/notesMasters/notesMaster1.xml" Id="R025760e2c20245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b1a4f0693046db" /><Relationship Type="http://schemas.openxmlformats.org/officeDocument/2006/relationships/notesMaster" Target="/ppt/notesMasters/notesMaster1.xml" Id="R48ae980589bf4f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41d7713f5c49e8" /><Relationship Type="http://schemas.openxmlformats.org/officeDocument/2006/relationships/notesMaster" Target="/ppt/notesMasters/notesMaster1.xml" Id="Ra9ce5d8d60d04c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032c14f1654741" /><Relationship Type="http://schemas.openxmlformats.org/officeDocument/2006/relationships/notesMaster" Target="/ppt/notesMasters/notesMaster1.xml" Id="Rbdaff3ba191749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9bd280531940aa" /><Relationship Type="http://schemas.openxmlformats.org/officeDocument/2006/relationships/notesMaster" Target="/ppt/notesMasters/notesMaster1.xml" Id="R7e9c2c01cf354c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3ed984729942d8" /><Relationship Type="http://schemas.openxmlformats.org/officeDocument/2006/relationships/notesMaster" Target="/ppt/notesMasters/notesMaster1.xml" Id="R382a073a6a9f43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546559c9bb40d5" /><Relationship Type="http://schemas.openxmlformats.org/officeDocument/2006/relationships/notesMaster" Target="/ppt/notesMasters/notesMaster1.xml" Id="R983d1a61128541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fdf8537efd4c29" /><Relationship Type="http://schemas.openxmlformats.org/officeDocument/2006/relationships/notesMaster" Target="/ppt/notesMasters/notesMaster1.xml" Id="Reccf6c05fdca40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b06c4379cf40eb" /><Relationship Type="http://schemas.openxmlformats.org/officeDocument/2006/relationships/notesMaster" Target="/ppt/notesMasters/notesMaster1.xml" Id="R1d0b3574494b4a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hook: a correct answer is not proof of understanding. Fahim turns an answer into a traceable learning decision.</a:t>
            </a:r>
          </a:p>
          <a:p xmlns:a="http://schemas.openxmlformats.org/drawingml/2006/main">
            <a:r>
              <a:t>Live prototype: https://fahim-ai-egypt.vercel.app/showcase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example as the hook: the same correct answer can come from different mental models, so the next learning action should not be identical.</a:t>
            </a:r>
          </a:p>
          <a:p xmlns:a="http://schemas.openxmlformats.org/drawingml/2006/main">
            <a:r>
              <a:t>Fahim is designed to reveal that hidden state before it becomes the next repeated mistake.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learner is the first user, but the value compounds across teacher and institution workflows.</a:t>
            </a:r>
          </a:p>
          <a:p xmlns:a="http://schemas.openxmlformats.org/drawingml/2006/main">
            <a:r>
              <a:t>The initial use case is deliberately narrow: bilingual STEM concepts under assessment pressure.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GenAI is the adaptive reasoning layer. Fixed rules cannot respond to each learner's source, language, reasoning path, and misconception at scale.</a:t>
            </a:r>
          </a:p>
          <a:p xmlns:a="http://schemas.openxmlformats.org/drawingml/2006/main">
            <a:r>
              <a:t>Product reference captured from https://fahim-ai-egypt.vercel.app/how-it-works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timing: 20 seconds hook, 30 seconds setup, 90 seconds hero path, 50 seconds trust, 30 seconds outcome, 20 seconds buffer.</a:t>
            </a:r>
          </a:p>
          <a:p xmlns:a="http://schemas.openxmlformats.org/drawingml/2006/main">
            <a:r>
              <a:t>Live demo: https://fahim-ai-egypt.vercel.app/showcase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a rules engine is not enough: the input is open-ended reasoning in two languages and the response must adapt to a specific misconception.</a:t>
            </a:r>
          </a:p>
          <a:p xmlns:a="http://schemas.openxmlformats.org/drawingml/2006/main">
            <a:r>
              <a:t>The model operates inside product controls; it does not decide authorization or certificate issuance.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competitors cannot build these features. The differentiation is the integrated, persistent workflow and bilingual education context.</a:t>
            </a:r>
          </a:p>
          <a:p xmlns:a="http://schemas.openxmlformats.org/drawingml/2006/main">
            <a:r>
              <a:t>This slide maps directly to the 25% innovation criterion.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is deployed and testable. The architecture is intentionally modular so providers and curricula can change without rewriting the learner experience.</a:t>
            </a:r>
          </a:p>
          <a:p xmlns:a="http://schemas.openxmlformats.org/drawingml/2006/main">
            <a:r>
              <a:t>Engineering proof is not presented as learning-outcome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begins with immediate individual study value, then expands through teacher signals and institution-level support.</a:t>
            </a:r>
          </a:p>
          <a:p xmlns:a="http://schemas.openxmlformats.org/drawingml/2006/main">
            <a:r>
              <a:t>This slide maps to educational impact and accessibility criteria without claiming measured outcomes that have not yet been collected.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Feasibility is demonstrated by the live prototype and modular infrastructure. Market pricing and retention will be validated rather than asserted.</a:t>
            </a:r>
          </a:p>
          <a:p xmlns:a="http://schemas.openxmlformats.org/drawingml/2006/main">
            <a:r>
              <a:t>The pilot is one next-step workstream, not the center of the competition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team quickly by name and role. Do not use photos, invented specialist titles, or inflated credentials.</a:t>
            </a:r>
          </a:p>
          <a:p xmlns:a="http://schemas.openxmlformats.org/drawingml/2006/main">
            <a:r>
              <a:t>Move directly from the team to the final promise and live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product promise, not on the absence of pilot data.</a:t>
            </a:r>
          </a:p>
          <a:p xmlns:a="http://schemas.openxmlformats.org/drawingml/2006/main">
            <a:r>
              <a:t>Ask judges to experience the live prototype and evaluate the integrated learning loop.</a:t>
            </a:r>
          </a:p>
          <a:p xmlns:a="http://schemas.openxmlformats.org/drawingml/2006/main">
            <a:r>
              <a:t>Live demo: https://fahim-ai-egypt.vercel.app/showcase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630c636864a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505416427474c" /><Relationship Type="http://schemas.openxmlformats.org/officeDocument/2006/relationships/slideLayout" Target="/ppt/slideLayouts/slideLayout1.xml" Id="Rffca7673e8ef41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ca7673e8ef41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93ea909444f0f" /><Relationship Type="http://schemas.openxmlformats.org/officeDocument/2006/relationships/image" Target="/ppt/media/image.png" Id="R851e8f4810d648c2" /><Relationship Type="http://schemas.openxmlformats.org/officeDocument/2006/relationships/image" Target="/ppt/media/image2.png" Id="R799717525f6743a9" /><Relationship Type="http://schemas.openxmlformats.org/officeDocument/2006/relationships/image" Target="/ppt/media/image.svg" Id="R44e6b8a643df4abd" /><Relationship Type="http://schemas.openxmlformats.org/officeDocument/2006/relationships/notesSlide" Target="/ppt/notesSlides/notesSlide1.xml" Id="Rc4a775aa6b714e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84344427f4a26" /><Relationship Type="http://schemas.openxmlformats.org/officeDocument/2006/relationships/image" Target="/ppt/media/image3.png" Id="R655613dcd6d5456d" /><Relationship Type="http://schemas.openxmlformats.org/officeDocument/2006/relationships/image" Target="/ppt/media/image2.svg" Id="R1dc159276a574d81" /><Relationship Type="http://schemas.openxmlformats.org/officeDocument/2006/relationships/notesSlide" Target="/ppt/notesSlides/notesSlide2.xml" Id="Rc035599e942a47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60a627f044404" /><Relationship Type="http://schemas.openxmlformats.org/officeDocument/2006/relationships/image" Target="/ppt/media/image4.png" Id="R70e659c661094630" /><Relationship Type="http://schemas.openxmlformats.org/officeDocument/2006/relationships/image" Target="/ppt/media/image3.svg" Id="R5f1aac094d9e4047" /><Relationship Type="http://schemas.openxmlformats.org/officeDocument/2006/relationships/notesSlide" Target="/ppt/notesSlides/notesSlide3.xml" Id="Rd2ced671809c48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8a7a4701f42bb" /><Relationship Type="http://schemas.openxmlformats.org/officeDocument/2006/relationships/image" Target="/ppt/media/image5.png" Id="Rdf6afdfa77434399" /><Relationship Type="http://schemas.openxmlformats.org/officeDocument/2006/relationships/image" Target="/ppt/media/image4.svg" Id="Re52dfad9d17648a9" /><Relationship Type="http://schemas.openxmlformats.org/officeDocument/2006/relationships/image" Target="/ppt/media/image6.png" Id="Rd7e5539ce7124b59" /><Relationship Type="http://schemas.openxmlformats.org/officeDocument/2006/relationships/notesSlide" Target="/ppt/notesSlides/notesSlide4.xml" Id="R5e8e3c71cc924f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0a0a08d9b4d9f" /><Relationship Type="http://schemas.openxmlformats.org/officeDocument/2006/relationships/image" Target="/ppt/media/image7.png" Id="Rc8ed30995ccf45f0" /><Relationship Type="http://schemas.openxmlformats.org/officeDocument/2006/relationships/image" Target="/ppt/media/image5.svg" Id="R7e297ba408ac4de5" /><Relationship Type="http://schemas.openxmlformats.org/officeDocument/2006/relationships/image" Target="/ppt/media/image8.png" Id="R11969bf989314374" /><Relationship Type="http://schemas.openxmlformats.org/officeDocument/2006/relationships/image" Target="/ppt/media/image9.png" Id="R404cbef3f4524ba1" /><Relationship Type="http://schemas.openxmlformats.org/officeDocument/2006/relationships/notesSlide" Target="/ppt/notesSlides/notesSlide5.xml" Id="Rbe608655e26040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5747e3eee403d" /><Relationship Type="http://schemas.openxmlformats.org/officeDocument/2006/relationships/image" Target="/ppt/media/image10.png" Id="Rbae3054ee86b4b6d" /><Relationship Type="http://schemas.openxmlformats.org/officeDocument/2006/relationships/image" Target="/ppt/media/image6.svg" Id="Rc9926e4b6e9c4d51" /><Relationship Type="http://schemas.openxmlformats.org/officeDocument/2006/relationships/notesSlide" Target="/ppt/notesSlides/notesSlide6.xml" Id="R51c51a4284114d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efdeadc9b48f3" /><Relationship Type="http://schemas.openxmlformats.org/officeDocument/2006/relationships/image" Target="/ppt/media/image11.png" Id="R3a23e9ce06754bb3" /><Relationship Type="http://schemas.openxmlformats.org/officeDocument/2006/relationships/image" Target="/ppt/media/image7.svg" Id="Rf3eb38e41e884e30" /><Relationship Type="http://schemas.openxmlformats.org/officeDocument/2006/relationships/notesSlide" Target="/ppt/notesSlides/notesSlide7.xml" Id="R96e6e0e7ca6544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0ad73b33b48e3" /><Relationship Type="http://schemas.openxmlformats.org/officeDocument/2006/relationships/image" Target="/ppt/media/image12.png" Id="R66826baa9d9f4a67" /><Relationship Type="http://schemas.openxmlformats.org/officeDocument/2006/relationships/image" Target="/ppt/media/image8.svg" Id="R9f725799e09347ca" /><Relationship Type="http://schemas.openxmlformats.org/officeDocument/2006/relationships/notesSlide" Target="/ppt/notesSlides/notesSlide8.xml" Id="Rd668db7a20604c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e4004883d4dcf" /><Relationship Type="http://schemas.openxmlformats.org/officeDocument/2006/relationships/image" Target="/ppt/media/image13.png" Id="Rca9a4b019d7a4d93" /><Relationship Type="http://schemas.openxmlformats.org/officeDocument/2006/relationships/image" Target="/ppt/media/image9.svg" Id="Rde333fc9e63b4e49" /><Relationship Type="http://schemas.openxmlformats.org/officeDocument/2006/relationships/notesSlide" Target="/ppt/notesSlides/notesSlide9.xml" Id="R90874fab48ab41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c334763614853" /><Relationship Type="http://schemas.openxmlformats.org/officeDocument/2006/relationships/image" Target="/ppt/media/image14.png" Id="R7054eb179e824ce5" /><Relationship Type="http://schemas.openxmlformats.org/officeDocument/2006/relationships/image" Target="/ppt/media/image10.svg" Id="R6a000960c0cc4dc0" /><Relationship Type="http://schemas.openxmlformats.org/officeDocument/2006/relationships/notesSlide" Target="/ppt/notesSlides/notesSlide10.xml" Id="Re93f48012ed64a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7c92e2363453c" /><Relationship Type="http://schemas.openxmlformats.org/officeDocument/2006/relationships/image" Target="/ppt/media/image15.png" Id="Rb6199e8cedec4a16" /><Relationship Type="http://schemas.openxmlformats.org/officeDocument/2006/relationships/image" Target="/ppt/media/image11.svg" Id="Rf4bac322f7bd473d" /><Relationship Type="http://schemas.openxmlformats.org/officeDocument/2006/relationships/notesSlide" Target="/ppt/notesSlides/notesSlide11.xml" Id="Rc8fdd2d7e05d4b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ed859d3784f48" /><Relationship Type="http://schemas.openxmlformats.org/officeDocument/2006/relationships/image" Target="/ppt/media/image16.png" Id="R158a73d4c4994d7e" /><Relationship Type="http://schemas.openxmlformats.org/officeDocument/2006/relationships/image" Target="/ppt/media/image12.svg" Id="R8023ce1ca97842f6" /><Relationship Type="http://schemas.openxmlformats.org/officeDocument/2006/relationships/image" Target="/ppt/media/image17.png" Id="Rbeaddccf488f4fb7" /><Relationship Type="http://schemas.openxmlformats.org/officeDocument/2006/relationships/image" Target="/ppt/media/image18.png" Id="R246b22e4aa294cfd" /><Relationship Type="http://schemas.openxmlformats.org/officeDocument/2006/relationships/notesSlide" Target="/ppt/notesSlides/notesSlide12.xml" Id="Re3dc42c4550a4e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2B2236-3053-4EFC-A477-BA8EC4A1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BAF06-7BB1-4B22-A96B-D17ED3DC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1D4F5-00D2-42C5-A5B4-4F0BE0E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E6AF5-5EFA-48C5-8D2D-BF106B82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A84B9-EC36-4A72-B540-64F5A699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D32AD-0D3A-4D10-8C82-D508A622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65498-950F-46BE-86EA-6A3C47FD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5D243-246D-49D0-91D7-9BFA3926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DA65C-0486-4D97-90B7-EC3F6A72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7F82A-E6A6-4865-AB50-269B8298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6C151-C759-45C9-9E18-2122AF7A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F6887-2581-446A-80FE-B5C94C9D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1369D-7F6E-4C6B-A561-9436BCA1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1EF60-80FC-464F-857B-17C64253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D9B18-2707-48BE-890A-01E65F6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7A346-4488-4684-9C02-86E37953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43AE8-85D1-48E9-BCDF-C4BF1630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8518F-EB81-4375-B28A-54FCB040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E4036-D681-457E-83EB-8F11F173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DF19D-2735-49AA-AE78-956D66B8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71BE8-13B7-4811-B424-D7DF8AFE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E1A20-09A9-43C7-80A5-061C07D9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0EC90-5B0E-44BB-8F54-2C4352E2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87A8D-F018-465F-B214-18579641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6CE4E-2C88-416E-88B9-1CCC1B54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443915-A5E1-413F-B8B9-C6226BF7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019CF-F98E-4932-8D91-8531A21A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03D744-763D-4B36-A38D-ECA90BBE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75E773-EFDC-4765-9BCB-BB04E7B8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BBBC8E-411C-4B16-9F7C-B236EAFD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0691CF-A82E-4458-954F-36C7ECBC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BD3D93-BC01-49B2-8778-CD938249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FEB90C-925D-4F9F-A0DC-4ED26B4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85800"/>
            <a:ext cx="4000500" cy="4000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9525">
            <a:solidFill>
              <a:srgbClr val="21466B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e8f4810d648c2"/>
          <a:stretch xmlns:a="http://schemas.openxmlformats.org/drawingml/2006/main"/>
        </p:blipFill>
        <p:spPr>
          <a:xfrm xmlns:a="http://schemas.openxmlformats.org/drawingml/2006/main">
            <a:off x="7658100" y="1162050"/>
            <a:ext cx="2819400" cy="28194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717525f6743a9">
            <a:extLst>
              <a:ext uri="{96DAC541-7B7A-43D3-8B79-37D633B846F1}">
                <asvg:svgBlip xmlns:asvg="http://schemas.microsoft.com/office/drawing/2016/SVG/main" r:embed="R44e6b8a643df4a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57200"/>
            <a:ext cx="1790700" cy="6096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3FDEC1-A532-4C7C-A7F2-E283AF23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191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Turn every answer into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evidence of understanding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BC599D-EBCF-45C1-BBAF-C0323266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B93B"/>
                </a:solidFill>
                <a:latin typeface="Noto Kufi Arabic"/>
                <a:ea typeface="Noto Kufi Arabic"/>
                <a:cs typeface="Noto Kufi Arabic"/>
              </a:defRPr>
            </a:pPr>
            <a:r>
              <a:rPr sz="2025" b="1">
                <a:solidFill>
                  <a:srgbClr val="F6B93B"/>
                </a:solidFill>
                <a:latin typeface="Noto Kufi Arabic"/>
                <a:ea typeface="Noto Kufi Arabic"/>
                <a:cs typeface="Noto Kufi Arabic"/>
              </a:rPr>
              <a:t>افهمها. اثبتها. افتكرها.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78E492-83F4-43FA-944C-B30902F7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A bilingual learning system that diagnoses misconceptions, teaches the missing concept, tests transfer, and schedules the right review.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7F9779-359F-4CB6-9123-E86C8B5C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2192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352270-A865-4FC4-9995-06D4AEEA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SOURCE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260AF2-5595-4D3B-A139-F42F342C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19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61123F-3192-457A-A60A-D40C62C8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19700"/>
            <a:ext cx="12192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FE5EE1-8279-4863-82BA-86631DE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340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ATTEMPT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9401C1-0C36-46B2-A55F-3D909D39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29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19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E7593F-E913-443C-8847-5EEE5B4A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19700"/>
            <a:ext cx="12192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E6521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B2B150-0B81-45E0-970A-D8674501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340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DIAGNOSE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98E634-27AA-45E6-998A-527E918F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29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19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69054C-75DC-48C8-8967-8715115A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2192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02D6B1-A4FA-4DCA-9339-267D1460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340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PROVE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14499F-13D2-4989-96E9-FC7BB2FA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0"/>
            <a:ext cx="3905250" cy="742950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081124"/>
          </a:solidFill>
          <a:ln xmlns:a="http://schemas.openxmlformats.org/drawingml/2006/main" w="9525">
            <a:solidFill>
              <a:srgbClr val="2C456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16416E-9B1A-47EE-B3F3-90D63C56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1970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STUDENT TRACK  ·  ASSESSMENT REVOLUTION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672E8E-5B2C-40A8-A9DA-560D80F0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0545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F0E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D9F0EC"/>
                </a:solidFill>
                <a:latin typeface="Segoe UI"/>
                <a:ea typeface="Segoe UI"/>
                <a:cs typeface="Segoe UI"/>
              </a:rPr>
              <a:t>WORKING PROTOTYPE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B8EC9B-9E47-4E97-A15E-2DD25D46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GenAI for Education Hackathon 2026  ·  Team Fahim AI</a:t>
            </a:r>
          </a:p>
        </p:txBody>
      </p:sp>
    </p:spTree>
    <p:extLst>
      <p:ext uri="{BB962C8B-B14F-4D97-AF65-F5344CB8AC3E}">
        <p14:creationId xmlns:p14="http://schemas.microsoft.com/office/powerpoint/2010/main" val="497781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DA8356-8A5B-4035-8C6C-0F136F87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25CEC-7EBC-464B-8643-8B3B5315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613dcd6d5456d">
            <a:extLst>
              <a:ext uri="{96DAC541-7B7A-43D3-8B79-37D633B846F1}">
                <asvg:svgBlip xmlns:asvg="http://schemas.microsoft.com/office/drawing/2016/SVG/main" r:embed="R1dc159276a574d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D1E42-7BD4-4703-BDE2-2BCA146F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01 /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6E227-3D76-4908-8797-30023C1D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DE3E7-C710-4A01-A948-4EF8BCF5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 correct answer can hide the wrong understanding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D9EDA-262B-4D26-AEBE-D48C42B7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Most platforms score the answer. Generic AI explains the topic. Neither proves what the learner actually understood.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90A91-D481-4745-A9AC-0FA79B23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429000" cy="28956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7CB9E-6F33-48B7-9623-6AFA3412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THE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51769-84D0-46A7-9CC8-23CC3A90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Acceleration is −3 m/s²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3F148-D7C7-42CA-9C30-E4A79094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7813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62C4C"/>
          </a:solidFill>
          <a:ln xmlns:a="http://schemas.openxmlformats.org/drawingml/2006/main" w="9525">
            <a:solidFill>
              <a:srgbClr val="29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47DD1-A779-49EB-9E24-6386161B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F0E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9F0EC"/>
                </a:solidFill>
                <a:latin typeface="Segoe UI"/>
                <a:ea typeface="Segoe UI"/>
                <a:cs typeface="Segoe UI"/>
              </a:rPr>
              <a:t>✓ Correct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9C827-E918-4529-8A41-BF118269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195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But why?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7B3F3-59DE-4CE8-8476-A72E38A0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242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33EE9-DAF3-4BE1-B1C7-F0DAFE98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52700"/>
            <a:ext cx="0" cy="2552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0C77D-AEA0-4E00-B860-9826CF31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527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9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5B0D8-05E5-4A54-AE37-B7527817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76450"/>
            <a:ext cx="61531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F6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CF9E9-7114-4D2D-93CC-1ABB89D1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47900"/>
            <a:ext cx="1066800" cy="2476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B421E-D8EC-44CF-A6B2-0A2184B8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050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MEMORIZED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66E9D-CA45-42D4-825F-1C7C282D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Repeated the model answer without a causal explanation.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D34B6-185C-4DD2-90D8-C19AFA68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2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55AB5-0B9D-44D9-B91D-DF2159AF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52800"/>
            <a:ext cx="61531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E652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5A82AB-7429-40E9-AC49-81597FCC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24250"/>
            <a:ext cx="1066800" cy="2476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E6521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AE8384-308E-404D-83F5-4201C1E9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8140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SIGN CONFUSION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82071-1842-4CE7-8FF5-F94B813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Treats negative acceleration as slowing down in every case.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BA801-F4B2-4337-A5AB-68D51495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054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8C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9493C-36F7-4EAD-92E5-E2627C96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29150"/>
            <a:ext cx="61531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008C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C0EEC8-F3BD-49C1-8452-B6EE1E1E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00600"/>
            <a:ext cx="1066800" cy="2476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BA5771-FDA6-42C9-9F2E-3FB0D8E3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577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FRAGILE TRANSFER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B61B5-F4FC-403E-BC61-310BB3C8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Cannot apply the same idea when the direction changes.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E661AB-5134-4387-B112-FDE2F708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63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DF6DA1-3589-4181-B4E0-8DC8D0E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The problem is not access to content. It is invisible misunderstanding.</a:t>
            </a:r>
          </a:p>
        </p:txBody>
      </p:sp>
    </p:spTree>
    <p:extLst>
      <p:ext uri="{BB962C8B-B14F-4D97-AF65-F5344CB8AC3E}">
        <p14:creationId xmlns:p14="http://schemas.microsoft.com/office/powerpoint/2010/main" val="78429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B53B62-3CB7-4306-8F3B-834503BA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3C36F-F6DA-4367-8512-0853C581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659c661094630">
            <a:extLst>
              <a:ext uri="{96DAC541-7B7A-43D3-8B79-37D633B846F1}">
                <asvg:svgBlip xmlns:asvg="http://schemas.microsoft.com/office/drawing/2016/SVG/main" r:embed="R5f1aac094d9e40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69D8E-BDAB-4C95-A7A1-92B17CCD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02 / PEOPLE +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CA786-0B66-4A17-9AA5-3E8F9FDC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890B3-7BAE-4DB0-BDD7-FA4D69E4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The same blind spot affects the whole learning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139EC-7029-4ED2-B654-67D5BAE7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Fahim starts with Egyptian secondary and university STEM learners studying concepts in Arabic and terminology in English.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4D492-CBEE-491B-8F77-1FC1B86E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181350" cy="3067050"/>
          </a:xfrm>
          <a:prstGeom xmlns:a="http://schemas.openxmlformats.org/drawingml/2006/main" prst="roundRect">
            <a:avLst>
              <a:gd name="adj" fmla="val 807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ACDCE-6FF8-4796-B98E-4DD98135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143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C582D-0C27-4EDF-9317-461B5312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BC662-B908-443B-93FF-0E9279AF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LEARNER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BEFAA-EA35-468C-BC39-48903C21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“I received an answer, but I still repeat the same mistake.”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84F61-C5B0-461D-91B4-A5C63263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471A1-7473-4308-BE82-4A0797C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Needs a precise next 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74FBD-1750-4E41-8DFC-058D5EFC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3181350" cy="3067050"/>
          </a:xfrm>
          <a:prstGeom xmlns:a="http://schemas.openxmlformats.org/drawingml/2006/main" prst="roundRect">
            <a:avLst>
              <a:gd name="adj" fmla="val 807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2500E-5EBA-4479-BE8D-271A1BF6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5143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EB092-BBA9-4AD3-8B9C-21ED5D5D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C3C11-371A-4379-BBD4-E35EA247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TEACHER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2E651-C964-4CB2-9BD5-A25FCF55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“I see scores, not the misconception behind each score.”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B8E671-62E5-438C-9485-FA9B3DA6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053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BEF19-0CB6-44A1-815D-875B5901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Needs actionable class signals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27CF3-A96C-4282-818F-264C0303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3181350" cy="3067050"/>
          </a:xfrm>
          <a:prstGeom xmlns:a="http://schemas.openxmlformats.org/drawingml/2006/main" prst="roundRect">
            <a:avLst>
              <a:gd name="adj" fmla="val 807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ECAAC-4474-4F2D-85BA-45ADA066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5143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521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013FA-597F-4DCE-9D05-ABDD0A80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9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2F143C-1400-42C9-BEFF-5857A476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FAMILY / SCHOOL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398D8-FEC5-4B29-8CDE-1E4A8F16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“Completion percentages do not prove durable understanding.”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C10084-8882-46E1-8203-B4247AB8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E336F-2B4E-42ED-A474-1FC86CB7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Needs credible progress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412559-9E8E-441A-9C61-5AA4D6B4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15365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3D17B-F923-4D47-94E0-9454FEAF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Beachhead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5F01DC-A500-48B1-98B0-5C72BB47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High-stakes bilingual STEM learning where a hidden misconception becomes the next lost mark.</a:t>
            </a:r>
          </a:p>
        </p:txBody>
      </p:sp>
    </p:spTree>
    <p:extLst>
      <p:ext uri="{BB962C8B-B14F-4D97-AF65-F5344CB8AC3E}">
        <p14:creationId xmlns:p14="http://schemas.microsoft.com/office/powerpoint/2010/main" val="696059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6A25BC-7DF0-4C5E-982C-1D592F8B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D4241-AF26-48BA-9146-6BB3B933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afdfa77434399">
            <a:extLst>
              <a:ext uri="{96DAC541-7B7A-43D3-8B79-37D633B846F1}">
                <asvg:svgBlip xmlns:asvg="http://schemas.microsoft.com/office/drawing/2016/SVG/main" r:embed="Re52dfad9d17648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AC6FF-6450-4AB4-83C1-C281E849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03 / SOLUTION + WHY GENAI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0DCC8-9DE7-479B-9568-CC92B98D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A6C51-3E8F-452F-97FC-CE06C588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The Fahim learning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77CC9-59E4-4E17-95BC-9DFA16CD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Each session links the learner’s source and reasoning to a specific intervention, a transfer task, and a scheduled review.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5539ce7124b59"/>
          <a:srcRect xmlns:a="http://schemas.openxmlformats.org/drawingml/2006/main" l="1705" t="0" r="17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52625"/>
            <a:ext cx="4857750" cy="31432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24103-AAB6-4046-9661-55DE997D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59105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902E5-C490-448A-B394-FD71B983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Live product journey, not a concept mockup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00031-B4EA-4823-BB6C-6BA95661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8A40B-96EB-4884-9DF0-94B7FBF6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859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2999C-344F-40A5-868F-AC367901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Trusted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5FE83-0BD2-455A-9D93-D72D25DB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638B3-9EA2-4418-B034-92CF5B2B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C0F70-C540-4482-A751-9DBB2A61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9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5731E-A5DF-401A-8B5D-FDE89D34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Learner attempt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AF561-687E-4809-A16C-85C52425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82D7D-6922-4CD6-BD69-233787E0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21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AF9B8-A246-41A9-A9CB-14F5BF59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051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3DF15-1044-405B-86DC-F407ABB2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76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Misconception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7319C-D3B2-47E3-B24F-77597D40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26E83-E981-4CF1-9CD8-C8E86E56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481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FD0B3-AD9A-47FB-8468-A9B391EC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147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DB8875-4630-4BBD-BA1F-E357E7E5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Targeted intervention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494B6E-868D-4A49-A87C-D5F47AC9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AE92BC-3319-4B2A-996D-2DE33C58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8A974B-424B-455B-A4EE-15D35F4B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3241AF-8BB1-4AF6-8042-82A3DB68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New application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E7F384-4EC2-40A4-8FCE-1D43A12D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768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075BF-0923-4592-9243-EAA7683F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67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0740C2-F766-4E1A-9E00-35CEE0A8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339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E9DE00-862D-4EDC-9760-6FD5A899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05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Evidence +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1D927D-EB67-40FF-9E9B-22521906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34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WHY GENAI IS REQUIRED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AA6A1A-B0B7-45F0-8F03-C54D0910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38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It interprets free-text reasoning, grounds the response in evidence, and creates the next test for this learner.</a:t>
            </a:r>
          </a:p>
        </p:txBody>
      </p:sp>
    </p:spTree>
    <p:extLst>
      <p:ext uri="{BB962C8B-B14F-4D97-AF65-F5344CB8AC3E}">
        <p14:creationId xmlns:p14="http://schemas.microsoft.com/office/powerpoint/2010/main" val="209226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3DF0A6-6035-4B0D-9372-99299798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60047-B735-4EA9-9411-44E91400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d30995ccf45f0">
            <a:extLst>
              <a:ext uri="{96DAC541-7B7A-43D3-8B79-37D633B846F1}">
                <asvg:svgBlip xmlns:asvg="http://schemas.microsoft.com/office/drawing/2016/SVG/main" r:embed="R7e297ba408ac4d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A21B5-6DB8-4255-84AC-B6F507F9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04 / DEMO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48516-303F-41C6-AB9A-66DD6032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227C7-5A38-47C0-8224-9A2770CD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Demo: Newton’s second law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2DF56-A911-4BA1-8EF4-45416E1D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Mariam explains one answer in her own words. Fahim identifies the likely misconception and tests it with a new task.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69bf989314374"/>
          <a:srcRect xmlns:a="http://schemas.openxmlformats.org/drawingml/2006/main" l="0" t="6842" r="0" b="6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24050"/>
            <a:ext cx="7239000" cy="3905250"/>
          </a:xfrm>
          <a:prstGeom xmlns:a="http://schemas.openxmlformats.org/drawingml/2006/main" prst="roundRect">
            <a:avLst>
              <a:gd name="adj" fmla="val 634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871C7-F540-4BFF-960E-CBCE3F3E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3524250" cy="3905250"/>
          </a:xfrm>
          <a:prstGeom xmlns:a="http://schemas.openxmlformats.org/drawingml/2006/main" prst="roundRect">
            <a:avLst>
              <a:gd name="adj" fmla="val 702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818D9-9E04-481A-B618-ABAE1952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EA201-0D69-4C06-AB04-C36A6BD7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902A2-5A68-4D32-965E-0A866BAC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3840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Mariam opens Newton’s second law from a trusted source.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EEBFF-209A-41D0-8A11-9B4E3A0D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102FE-0548-403E-B2E7-96C13E8C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1FACB-F274-4F1A-AA6A-0793DBA7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9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Reason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C5AAB-E89D-4588-B70E-CC47FDE5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She explains the answer in her own words.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16FC0-22EE-460D-B5A6-9BFCCC4B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6F0A7-1838-4A68-94CF-C6A754EF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532B1-57FE-4452-B77F-0C8413AF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67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Diagnose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1D27D-9F51-483D-A594-44F6959A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5290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Fahim proposes a revisable misconception hypothesis.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1C604C-CB5C-4EFE-BBF9-4E3BDAAA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A66C51-76F0-410F-9785-FA5BEAB0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43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6D8359-2026-43ED-BFAB-DC98D979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24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D0565C-B5B8-4218-92D2-E6F526FB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101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 new task checks transfer, then schedules review.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B90B1B-AD15-4923-A39F-967FCF0D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CF08C-4EDE-4571-83FD-C8EAB143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0552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One evidence chain connects the source, the learner’s reasoning, the diagnosis and the delayed review.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cbef3f4524ba1"/>
          <a:stretch xmlns:a="http://schemas.openxmlformats.org/drawingml/2006/main"/>
        </p:blipFill>
        <p:spPr>
          <a:xfrm xmlns:a="http://schemas.openxmlformats.org/drawingml/2006/main">
            <a:off x="10648950" y="5953125"/>
            <a:ext cx="590550" cy="590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9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663450-7E18-4D32-A256-2557B05B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0F2B9-3949-40FB-8271-B6AE956D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3054ee86b4b6d">
            <a:extLst>
              <a:ext uri="{96DAC541-7B7A-43D3-8B79-37D633B846F1}">
                <asvg:svgBlip xmlns:asvg="http://schemas.microsoft.com/office/drawing/2016/SVG/main" r:embed="Rc9926e4b6e9c4d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59AAF-6FE6-49EA-820A-D54857E4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05 / WHY GENAI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1DB8F-E585-40BE-A3F0-4F638830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0EC27-66AA-452B-89E3-0CA39C5D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GenAI is the adaptive reasoning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6B7C2-C66E-406F-8C1F-4E1B88D1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The model is not a decorative chatbot. It interprets reasoning, chooses an intervention, and generates the next valid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95CDD-3613-45BA-A45B-5E7C6EBD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BBB7D-36E9-4809-9FE7-1F7D5B95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5143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342CA-C359-4750-B27E-BAD0582E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C7BC2-3046-4F59-B15F-15038E82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241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UNDERSTAND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817DD-0E31-43DC-AD49-DB4DEFDF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Read open-ended Arabic and English answers, not only multiple choice.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8EECC-A731-418D-9FA8-DF39DA89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4953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73EE1-44AF-4951-9B1B-5EB756EA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5143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521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C5C8D-2070-4529-B28F-C31706D4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42A3B-62A6-4583-A5D3-6906918E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DIAGNOSE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73029-AFBB-4158-92CA-1AD5BB58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670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Form a revisable misconception hypothesis from the learner’s explanation.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83066-1E95-4FB4-A00C-71504EB9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953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EA113-A427-4434-A369-BADD7DAE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5143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CD45B-C2AB-4A38-8AE0-07BA2D78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E4387-2B6F-4295-BFF5-2DE3E0F0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ADAPT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CFA93-D712-4CE3-9C38-D82DFAD9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Generate the smallest explanation that addresses this exact reasoning gap.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39264-30BF-450E-83A3-7356BB8A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33800"/>
            <a:ext cx="4953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95A7E-65A2-46F7-8776-3935FE66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5143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32B4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7767A-EB57-47C0-AA78-30139923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20DCF8-1448-4B35-B17D-07B26637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81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FA8076-8757-4273-8C7C-DDF11986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243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Create a fresh transfer question at the right difficulty and language.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DBC6F4-1E06-4F7D-A736-BC2313D4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3441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9051BF-4767-4E01-8E78-C07D5F70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SAFETY RAIL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F94541-186D-40B9-8332-6C8A7EAA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388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RAG grounding  ·  claim-level citations  ·  confidence boundaries  ·  signed grading  ·  educator review</a:t>
            </a:r>
          </a:p>
        </p:txBody>
      </p:sp>
    </p:spTree>
    <p:extLst>
      <p:ext uri="{BB962C8B-B14F-4D97-AF65-F5344CB8AC3E}">
        <p14:creationId xmlns:p14="http://schemas.microsoft.com/office/powerpoint/2010/main" val="796217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6EB4B-C60C-4AE9-AE03-A4AFA874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78E31-F17C-43AA-8846-4306C991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3e9ce06754bb3">
            <a:extLst>
              <a:ext uri="{96DAC541-7B7A-43D3-8B79-37D633B846F1}">
                <asvg:svgBlip xmlns:asvg="http://schemas.microsoft.com/office/drawing/2016/SVG/main" r:embed="Rf3eb38e41e884e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7D9BF-0BAE-47EF-9D00-78E2B1C5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06 / INNOVATION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1903B-F054-4752-B6DA-060C4075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70ED2-4D0F-4D34-B8CB-3DF51077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Four ideas competitors rarely connect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E104E-436B-4673-9621-F1D4F560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Fahim’s differentiation is not one AI feature. It is the evidence chain connecting the learner’s source, reasoning, intervention, transfer, and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BF6B7-C477-4D2D-A62F-A65681D6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99371-B635-4F71-868B-87BB0934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9715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6521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195EA-3EC5-4531-AA03-E5F91EA6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DIAGNOSE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8C03F-F765-4DFC-B1EE-D371367F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MISCONCEPTION ATLAS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88D33-6975-4824-B4CD-25AE8CDC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Recurring errors become patterns that can guide the next learning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13D3B-109C-46F4-85EA-17124E57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495300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05E75-CD9D-4A5F-A7EF-DF65E2B9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9715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DEF32-FE78-4697-8BF2-D21C25B3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1D655-8755-4071-8B7C-C4E6E9B0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051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EVIDENCE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57EA8-7645-4F2D-9F43-E22DA8C2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Separate sourced facts, inference, teaching explanation, and uncertainty.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1AB79-EF1B-499C-B36F-D5A1753B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A94FB-D912-43CD-AC17-2BDE9FF6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9715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00156-B215-4F8B-A701-70B8E6C8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86225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4B0F4-D248-4A8D-AEAF-A52295FB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BILINGUAL CONCEPT BRIDGE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55874-5A82-4857-AC56-0FF19761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Arabic term, English term, definition, pronunciation, and common confusion.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0E3A6-F5D5-46C9-8E46-C0473D77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495300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5CB48-E486-4C25-9929-EBB0FBB5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19550"/>
            <a:ext cx="9715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32B4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D6D31-ABC9-4F9E-AE2E-5055DE62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86225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9B5B45-22D0-4C29-B13C-59942A0C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LEARNING EVIDENCE 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7FFFDB-CFD3-4813-9B9F-9C13400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Show how mastery was earned across attempts, transfer, and spaced review.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CF8675-C1A8-4FF0-9A6B-71E5F855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3441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F2C0BC-4CFF-45DD-ADF1-60112BA4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988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Content platforms deliver lessons  ·  Generic AI delivers answers  ·  Fahim builds verified understanding</a:t>
            </a:r>
          </a:p>
        </p:txBody>
      </p:sp>
    </p:spTree>
    <p:extLst>
      <p:ext uri="{BB962C8B-B14F-4D97-AF65-F5344CB8AC3E}">
        <p14:creationId xmlns:p14="http://schemas.microsoft.com/office/powerpoint/2010/main" val="2005126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DA14CD-A88E-4C72-BBFC-9E83259F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6AB9B-3067-4418-A0A9-A1C6BB2F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26baa9d9f4a67">
            <a:extLst>
              <a:ext uri="{96DAC541-7B7A-43D3-8B79-37D633B846F1}">
                <asvg:svgBlip xmlns:asvg="http://schemas.microsoft.com/office/drawing/2016/SVG/main" r:embed="R9f725799e09347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C4113-310E-400E-A77A-E7EE9353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07 / TECHNICAL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346E6-009A-4157-ACD1-029533AB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EFC54-D338-4878-8B38-33FF45EB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From prompt to protected learning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7197B-E3A8-400D-A512-EDD7A417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 working architecture connects adaptive GenAI to retrieval, assessment, authorization, and a persistent evidence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FCE46-4A09-4373-9891-C3869153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6002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EE02A-F077-4F44-A6A3-DA01629E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Learner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A05D1-54F1-4F33-B64E-A74FF13C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TypeScript web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8ABDB-6927-467E-AF1D-D7C321CA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CD139-BECE-473D-8722-7A022228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47900"/>
            <a:ext cx="16002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A4506-5100-4980-9074-373E6A18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76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Secure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BF681-4580-4E2C-9883-D7F40244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57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Vercel functions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29FF3-3CE5-4624-8021-A0C60EB4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813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9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319A0-E139-4AF5-A1E0-A6DE5871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47900"/>
            <a:ext cx="16002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D3B97-FE02-4519-99C7-F77EEDE2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AI router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19A1A-8FC6-455C-A339-F3457AEF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Gemini +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D5957-8DB1-458D-8EFE-E5A2EEF5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813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9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F15C9-1328-4496-B09F-973AF9F6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16002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54054-A830-4F90-8A63-2D90B59B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Retrieval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FDF35-F9D8-4D1C-A008-60B36CA0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Hybrid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70495A-8B5D-4C19-A6E9-828AEBA1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35110-8CC2-4FEC-8457-AF25022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16002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AEFAB-33C4-440E-820B-859CF175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Assessment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0BF297-43D6-4462-AA0A-1E9B7B6D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Signed grading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F5C9ED-737D-4028-9721-49B201CF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9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042AB-2F0C-434E-BC1E-D49CA4EC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47900"/>
            <a:ext cx="16002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9525">
            <a:solidFill>
              <a:srgbClr val="008C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6AB3D7-1F12-40EF-9117-DD86A450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76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Learning record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89650C-7F9F-4060-957A-7B888015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575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9F0EC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D9F0EC"/>
                </a:solidFill>
                <a:latin typeface="Segoe UI"/>
                <a:ea typeface="Segoe UI"/>
                <a:cs typeface="Segoe UI"/>
              </a:rPr>
              <a:t>Supabase + RLS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F1A7E8-80F4-4F56-86F0-394BBB20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381250" cy="1047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6C5482-2B5F-4F32-B908-17844D07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155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26939A-E77B-4016-8D71-E9C9E44A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automated tests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6F565B-64D0-4774-B353-48D51B8F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3350"/>
            <a:ext cx="2381250" cy="1047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B8ABE4-7C7C-4F53-A1E5-22E53587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148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65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C9DE53-2675-4B6C-BA43-29FA880E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91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RLS-protected tables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31ABEE-0801-41C9-9230-A5F66A02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43350"/>
            <a:ext cx="2381250" cy="1047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5621CA-E10E-4F74-96F5-BE572549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148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29166A-3471-4620-A1C5-7E76662D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91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provider paths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F87947-536D-44D7-A826-80833163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2381250" cy="1047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4E5A8E-9CAF-4407-B196-3347D3FF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148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LIVE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EDD3C6-28A2-4A45-BE3D-96C685A6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91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production deployment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FB9F2B-0A2F-4AAF-9ACD-3C854E2F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3441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565495-63D1-4178-BE54-1ED75EB5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TRUST CONTROLS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FF8149-FB35-4BED-B2C4-A5945669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816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Auth + RLS  ·  rate limits  ·  schema validation  ·  audit logs  ·  provenance  ·  local-first sync</a:t>
            </a:r>
          </a:p>
        </p:txBody>
      </p:sp>
    </p:spTree>
    <p:extLst>
      <p:ext uri="{BB962C8B-B14F-4D97-AF65-F5344CB8AC3E}">
        <p14:creationId xmlns:p14="http://schemas.microsoft.com/office/powerpoint/2010/main" val="14626990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4A2FE6-9533-447C-82C5-CC3FE8F6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CDDD8-A64B-42DB-8930-4C62E32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a4b019d7a4d93">
            <a:extLst>
              <a:ext uri="{96DAC541-7B7A-43D3-8B79-37D633B846F1}">
                <asvg:svgBlip xmlns:asvg="http://schemas.microsoft.com/office/drawing/2016/SVG/main" r:embed="Rde333fc9e63b4e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2EF91-56D7-4EF4-AADB-A754F74D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08 / IMPACT + INCLUSION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B3B59-D2EE-4A66-A909-BCA49E8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D61CC-CBB9-49C5-BF76-F5BA64AA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Designed for Egyptian classrooms, ready to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0A6B4-3BEE-4E93-9BA1-417D759C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Inclusion is part of the system architecture, not a later accessibility checklist.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27A12-7329-4FD5-96B1-41A33A8D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43150" cy="2705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43EE9-BF32-4403-BAE5-CD2110B3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666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4EBDD-D24E-4C47-B682-DACDFC49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AR / 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27C03-1C03-47E5-8BE8-F3673B4D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BILINGUAL 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4A65A-7CE4-473E-92FD-6496004C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885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Explain in Arabic while preserving the English terminology students meet in courses and exams.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352BC-A9D5-4058-AF44-D03C99A5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2343150" cy="2705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F6998-BB42-4425-A254-6DB557E7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24100"/>
            <a:ext cx="666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39383-BC7B-465C-9017-0B919600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574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32F02-1318-4E36-8C61-0A064451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861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LOW BANDWIDTH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63101-AF20-423E-A62E-DFCA7993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0450"/>
            <a:ext cx="1885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Local-first progress and lightweight learning flows preserve continuity when connectivity is unstable.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5D135-B3D9-4658-9EA0-86F0DB30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2343150" cy="2705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FD3FC-2E04-4725-AE7F-390E3C1D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666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521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26CB8-54A0-4F54-8A8D-2D81AAC0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DBE10-1CBD-4462-AE45-383BC447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861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ACCESSIBLE UI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13E01-131B-49CF-9C72-FD346CF7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885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Keyboard navigation, readable contrast, motion controls, and speech-ready interactions.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0D723-C31A-45D5-9AD2-7FF5F3A5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2343150" cy="2705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F0F96-243A-4BD0-B7F8-09F208D5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666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32B4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F52E25-1270-49D6-92E2-97E96E15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4812D-6EA6-4B29-946A-B37B09F7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PRIVACY 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4939E-F242-40DF-AC6A-08598560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1885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Teachers see misconception patterns and priorities, not private learner conversations by default.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5785CC-06CD-49E1-8372-3372EC67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REACH PATH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94F186-D64F-443B-A475-408FCCD1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05400"/>
            <a:ext cx="2000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5FB04-D675-4A23-B6BB-7879CE18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95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LEARNER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33C9A2-1368-4E05-8F06-FF2D1509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006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D56725-B017-4F61-9E81-D9114F0C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05400"/>
            <a:ext cx="2000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C6F960-2958-4344-B0A5-1372863D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95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CLASSROOM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9DA378-7055-4D75-8D02-8F78BFDF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006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2454A4-FCD3-45BE-B0CC-934CEF3F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05400"/>
            <a:ext cx="2000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132B4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FF59FB-5A92-4099-9DFC-1014ACFC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95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INSTITUTION</a:t>
            </a:r>
          </a:p>
        </p:txBody>
      </p:sp>
    </p:spTree>
    <p:extLst>
      <p:ext uri="{BB962C8B-B14F-4D97-AF65-F5344CB8AC3E}">
        <p14:creationId xmlns:p14="http://schemas.microsoft.com/office/powerpoint/2010/main" val="17739454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AC7F46-8720-49E8-A294-28FB71AD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7B5DC-03E1-48BB-9AA2-9C043CB6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4eb179e824ce5">
            <a:extLst>
              <a:ext uri="{96DAC541-7B7A-43D3-8B79-37D633B846F1}">
                <asvg:svgBlip xmlns:asvg="http://schemas.microsoft.com/office/drawing/2016/SVG/main" r:embed="R6a000960c0cc4d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FD657-5D02-4A3B-95B3-35D8C8AC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09 / FEASIBILITY +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B4502-B549-4D7E-BC10-C74FBE41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C7B51-5257-4F09-A6A5-C9762022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 credible path from prototype to adoption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5EEB7-5FDA-4B16-8CC4-930B5CE2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The competition deliverable already works. The next steps convert it into classroom evidence, teacher workflow, and repeatable distribution.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CC384-6FC9-4AB7-95E9-EAFDC9A2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81350" cy="2114550"/>
          </a:xfrm>
          <a:prstGeom xmlns:a="http://schemas.openxmlformats.org/drawingml/2006/main" prst="roundRect">
            <a:avLst>
              <a:gd name="adj" fmla="val 1171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58C6F-72AA-4157-9491-B74759B8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8191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9572D-5951-4138-8C6C-516EF363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819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34493-3B0B-4B98-B916-9C0905CE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WORKING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AFD02-C903-47CB-8BB0-6D6E67CB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Learner loop, RAG sources, quizzes, spaced review, completion credentials, live deployment.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8078D-B874-49EE-9821-EB271C06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3181350" cy="2114550"/>
          </a:xfrm>
          <a:prstGeom xmlns:a="http://schemas.openxmlformats.org/drawingml/2006/main" prst="roundRect">
            <a:avLst>
              <a:gd name="adj" fmla="val 1171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D4657-27B0-4771-BB1B-2F73128E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8191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DD52E-864E-495F-A88C-FAF78556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90775"/>
            <a:ext cx="819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6F200-202B-4C45-B7A8-6002C8B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CLASSROOM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CE0C7-34F4-4AE9-9422-7FAF2221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Small consented study of diagnosis quality, immediate transfer, delayed recall, and teacher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2ACF5-482F-4DDB-BC06-1DB364E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95500"/>
            <a:ext cx="3181350" cy="2114550"/>
          </a:xfrm>
          <a:prstGeom xmlns:a="http://schemas.openxmlformats.org/drawingml/2006/main" prst="roundRect">
            <a:avLst>
              <a:gd name="adj" fmla="val 1171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32EF6-C661-4852-B76A-C01C6B7C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8191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6521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0AAEE8-8CA7-4595-A535-F62656F9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90775"/>
            <a:ext cx="819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84570-D43A-4AA1-A095-8CEA86FA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INSTITUTIONAL 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D4BC3-EA12-4529-9E12-F04413DC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Classes, analytics, curriculum governance, verified partnerships, and organization controls.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1388D-5FDD-4287-AEB9-3F0B1A2D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SUSTAINABLE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4EEDD6-A598-472E-90DE-3CCD63BF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3431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E77DE-B40E-46FC-A7E3-67610A84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FREE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AC292-4786-4230-BE37-1C2C7267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Trust + acquisition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153755-9FDF-46AC-84B5-60405A63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33950"/>
            <a:ext cx="23431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3FA478-1ECA-44A9-92FF-EA29FF47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24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STUDENT PLUS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737E86-C9BB-47E1-ADCC-7028159B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48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Affordable depth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868263-4B79-4230-A7D4-5BA417A3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33950"/>
            <a:ext cx="23431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FE4B0-5F0B-4185-814F-261D5919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24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TEACHER PRO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DEE4DD-2C6B-4897-A596-0C3892E1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48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Class insights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8A8B34-3EE1-468A-B434-46D90BF1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33950"/>
            <a:ext cx="23431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59520D-C99B-4547-8519-BB4412E2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24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SCHOOLS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D2A6B9-6A18-4E52-A83A-DB931507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48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Active learner license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430E6B-FCDC-470C-BA65-C92E6E2E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05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Pricing remains a testable hypothesis; the product architecture and adoption path are already implemented.</a:t>
            </a:r>
          </a:p>
        </p:txBody>
      </p:sp>
    </p:spTree>
    <p:extLst>
      <p:ext uri="{BB962C8B-B14F-4D97-AF65-F5344CB8AC3E}">
        <p14:creationId xmlns:p14="http://schemas.microsoft.com/office/powerpoint/2010/main" val="11029852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3EF781-D086-4F73-A737-BC139635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652B2-97DF-4F26-AFFA-B93B0053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99e8cedec4a16">
            <a:extLst>
              <a:ext uri="{96DAC541-7B7A-43D3-8B79-37D633B846F1}">
                <asvg:svgBlip xmlns:asvg="http://schemas.microsoft.com/office/drawing/2016/SVG/main" r:embed="Rf4bac322f7bd47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51A90-EE68-4196-B1D1-38DB06F6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10 /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1652B-A5BF-481F-8384-A8078B2B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B40A5-E6B8-4256-A536-C7FC27C3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 student team building for a problem we 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CB17C-0D27-4ADC-AF15-422B060E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Four contributors united around product engineering, learning design, research, and storytelling.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59F8B-4F12-4FA0-9CEA-830EF2FE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1A1AD-5212-4D69-AD0F-D85E48BF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990600" cy="990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AEE8F-5921-444E-94ED-5DCCB922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96F5E-E517-466E-9D42-3109BD5A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62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Marwan Yasser Hassan</a:t>
            </a:r>
          </a:p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Abdelghaffar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38FC0-39B2-42E6-A12C-2EBE00C3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05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TEAM LEADER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86192-169C-4559-A5F6-8C2D2C8A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49530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2151A-6FE3-4F36-A435-1C02A372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990600" cy="990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A6508-08E8-440A-B6C1-77915D70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MY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4243A-D34C-4B84-95CD-74A93089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Mostafa Yasser Hassan</a:t>
            </a:r>
          </a:p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Abdelghaffar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57F4C-B22C-4821-832F-CA5C1A27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TEAM MEMBER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C97A6-66B7-4805-85CB-E19F09BC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1F99B-DF15-42D3-B3BD-C35EF8CE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990600" cy="990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521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51EFF-173C-4508-93CB-964C22B8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E6EE9-FA7D-404E-8BD3-C192AA7A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719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Basel Abdel-Maqsoud</a:t>
            </a:r>
          </a:p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Abdel-Maqsoud Ziada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4A7EE-0B29-4813-90CC-06CB48E0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TEAM MEMBER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79A5AF-556D-453D-97C9-05CA7B16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49530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24EB6-6929-4851-91A0-635EA6DF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850"/>
            <a:ext cx="990600" cy="990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2B4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64956-18B0-482D-999F-79D7D33B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JH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C22CF8-ED53-472E-90BA-5A7B5C19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719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Jana Hossam Salah</a:t>
            </a:r>
          </a:p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Abdelhakim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A7B5BF-41DB-49AF-9327-485C7735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14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B4A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32B4A"/>
                </a:solidFill>
                <a:latin typeface="Segoe UI"/>
                <a:ea typeface="Segoe UI"/>
                <a:cs typeface="Segoe UI"/>
              </a:rPr>
              <a:t>TEAM MEMBER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98C972-70E0-4818-A712-C2EA6F94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3441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44CE9B-CDE3-4A6F-95C1-DAD62568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988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No titles for show. One shared responsibility: make learning visible, adaptive, and trustworthy.</a:t>
            </a:r>
          </a:p>
        </p:txBody>
      </p:sp>
    </p:spTree>
    <p:extLst>
      <p:ext uri="{BB962C8B-B14F-4D97-AF65-F5344CB8AC3E}">
        <p14:creationId xmlns:p14="http://schemas.microsoft.com/office/powerpoint/2010/main" val="17704011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667D5A-B9E3-4B91-BC02-88E72C2E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61B3C-AF42-4FC3-8D67-2901B46A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FE952-AA63-47E6-973C-4DECEA33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4A9BD-3B14-4660-AD13-87538679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037B6-F3BC-46E7-9D73-2B5A83B1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3641C-C076-4DE6-BC3F-C07BFE08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A4C88-8B3F-47B3-A205-F403798A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6A946-7EA2-42E5-8E1C-FE70064F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C5039-6728-43CA-A5FF-5D0605C8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3B4F0-6214-4124-9EDD-C5B88FA8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C64FA-22F2-47FE-B71E-A1275BBC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A9F33-702B-4AE5-A293-FABD3C02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8897E-3F53-4AD2-8243-0D6F80E0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7C3E7-DDE2-443D-B531-973D0D8B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1E5C3-A388-48E1-BD95-E7F2D6DC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B799B-87A9-4DC7-ADB2-B0BA32D8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02935-2A5B-4D41-9EF0-C86D8981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06AC4-5932-4C50-9BA0-02053360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FEE19-BAE1-498F-A463-83BAB469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38FE9-4332-400A-8316-9FB68491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27D81-489C-44A0-9B61-8A86661A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A4EEB-64FB-49DA-9B23-D3E4D1B7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A2695-2404-40D7-AE77-5A6B1E65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B7ED0C-4F10-40BC-9FB9-3DEB71AA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A00DC-FD4C-4BFA-895C-8B1FC0FF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EDF260-DB26-4C79-B092-3CDFBBFF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A6E89-0F08-418A-ACB9-0AFC43C4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296E99-5B87-4DE7-AEA7-CF7B4B11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5A3CF3-E225-4170-9E0F-751C004B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E1513-F952-4320-80ED-2B9460F0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D35088-4B67-4012-A042-B9FDBEF4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7A83BF-3A0A-4764-B3B3-DB803AC6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1B31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548424-7E99-4191-93EB-63C30832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50E9DB-23A6-40A5-9AC7-1AC84C71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a73d4c4994d7e">
            <a:extLst>
              <a:ext uri="{96DAC541-7B7A-43D3-8B79-37D633B846F1}">
                <asvg:svgBlip xmlns:asvg="http://schemas.microsoft.com/office/drawing/2016/SVG/main" r:embed="R8023ce1ca97842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ECE29F-21F0-4CF6-9BB1-E79ED4DF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11 / CLOSE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A58BE2-9ADD-43BE-82BA-390E4D7C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B0D528-2D0C-4C01-AB4D-6DD2F64F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Do not ask whether they finished.</a:t>
            </a:r>
          </a:p>
          <a:p xmlns:a="http://schemas.openxmlformats.org/drawingml/2006/main">
            <a:pPr algn="l">
              <a:defRPr sz="30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Ask what they can prove.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3F2609-5FCE-4625-BB88-E7E455DF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Fahim transforms study from content consumption into a traceable cycle of understanding.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ddccf488f4fb7"/>
          <a:stretch xmlns:a="http://schemas.openxmlformats.org/drawingml/2006/main"/>
        </p:blipFill>
        <p:spPr>
          <a:xfrm xmlns:a="http://schemas.openxmlformats.org/drawingml/2006/main">
            <a:off x="8172450" y="1657350"/>
            <a:ext cx="2400300" cy="24003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5A1A3B-7527-4BEB-80B2-7E2D9BB5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80975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32B4A"/>
          </a:solidFill>
          <a:ln xmlns:a="http://schemas.openxmlformats.org/drawingml/2006/main" w="9525">
            <a:solidFill>
              <a:srgbClr val="29476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866086-29D4-4FC2-8562-A098BF1A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WORKING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949373-CE05-4307-AB95-9AD02855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Bilingual prototype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26A985-F78A-4C7A-94FD-C6E78F4D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71800"/>
            <a:ext cx="180975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32B4A"/>
          </a:solidFill>
          <a:ln xmlns:a="http://schemas.openxmlformats.org/drawingml/2006/main" w="9525">
            <a:solidFill>
              <a:srgbClr val="29476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0683CD-26BD-4EEB-B8FD-C0C9274D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DISTINCT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94652E-5FE7-4205-83FC-525C0046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Evidence architecture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B68DD1-FD2F-4AF3-8E1B-A43E65F5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180975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32B4A"/>
          </a:solidFill>
          <a:ln xmlns:a="http://schemas.openxmlformats.org/drawingml/2006/main" w="9525">
            <a:solidFill>
              <a:srgbClr val="2947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A61C24-72E5-4F0E-A0D3-740C8870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813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READY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8A5DDC-BD9A-4216-A5FC-F6EDBC78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052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Clear validation path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672924-4948-4DE6-96BE-55800A7F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4770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B57077-DC07-4524-8A66-83442EEB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EXPERIENCE FAHIM AI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F5A2E9-71CE-4CAD-BFB4-BBA374C0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fahim-ai-egypt.vercel.app</a:t>
            </a:r>
          </a:p>
        </p:txBody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b22e4aa294cfd"/>
          <a:stretch xmlns:a="http://schemas.openxmlformats.org/drawingml/2006/main"/>
        </p:blipFill>
        <p:spPr>
          <a:xfrm xmlns:a="http://schemas.openxmlformats.org/drawingml/2006/main">
            <a:off x="5981700" y="45910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7D70CF-4D88-4418-B417-436D0123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F0E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9F0EC"/>
                </a:solidFill>
                <a:latin typeface="Segoe UI"/>
                <a:ea typeface="Segoe UI"/>
                <a:cs typeface="Segoe UI"/>
              </a:rPr>
              <a:t>We are seeking mentorship, classroom access, and direct feedback from educators.</a:t>
            </a:r>
          </a:p>
        </p:txBody>
      </p:sp>
    </p:spTree>
    <p:extLst>
      <p:ext uri="{BB962C8B-B14F-4D97-AF65-F5344CB8AC3E}">
        <p14:creationId xmlns:p14="http://schemas.microsoft.com/office/powerpoint/2010/main" val="1142888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2026-09-18T09:27:38.4740000Z</dcterms:created>
  <dcterms:modified xsi:type="dcterms:W3CDTF">2026-09-18T09:27:38.4740000Z</dcterms:modified>
</coreProperties>
</file>